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handoutMasterIdLst>
    <p:handoutMasterId r:id="rId16"/>
  </p:handoutMasterIdLst>
  <p:sldIdLst>
    <p:sldId id="468" r:id="rId2"/>
    <p:sldId id="498" r:id="rId3"/>
    <p:sldId id="499" r:id="rId4"/>
    <p:sldId id="501" r:id="rId5"/>
    <p:sldId id="502" r:id="rId6"/>
    <p:sldId id="503" r:id="rId7"/>
    <p:sldId id="504" r:id="rId8"/>
    <p:sldId id="505" r:id="rId9"/>
    <p:sldId id="506" r:id="rId10"/>
    <p:sldId id="508" r:id="rId11"/>
    <p:sldId id="510" r:id="rId12"/>
    <p:sldId id="509" r:id="rId13"/>
    <p:sldId id="264" r:id="rId1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35" autoAdjust="0"/>
    <p:restoredTop sz="94162" autoAdjust="0"/>
  </p:normalViewPr>
  <p:slideViewPr>
    <p:cSldViewPr snapToGrid="0">
      <p:cViewPr varScale="1">
        <p:scale>
          <a:sx n="71" d="100"/>
          <a:sy n="71" d="100"/>
        </p:scale>
        <p:origin x="768"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17/11/2025</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17/11/2025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2</a:t>
            </a:fld>
            <a:endParaRPr lang="es-CO"/>
          </a:p>
        </p:txBody>
      </p:sp>
    </p:spTree>
    <p:extLst>
      <p:ext uri="{BB962C8B-B14F-4D97-AF65-F5344CB8AC3E}">
        <p14:creationId xmlns:p14="http://schemas.microsoft.com/office/powerpoint/2010/main" val="3608520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Encabezado de sección">
    <p:spTree>
      <p:nvGrpSpPr>
        <p:cNvPr id="1" name=""/>
        <p:cNvGrpSpPr/>
        <p:nvPr/>
      </p:nvGrpSpPr>
      <p:grpSpPr>
        <a:xfrm>
          <a:off x="0" y="0"/>
          <a:ext cx="0" cy="0"/>
          <a:chOff x="0" y="0"/>
          <a:chExt cx="0" cy="0"/>
        </a:xfrm>
      </p:grpSpPr>
      <p:pic>
        <p:nvPicPr>
          <p:cNvPr id="6" name="Imagen 5" descr="Patrón de fondo&#10;&#10;Descripción generada automáticamente">
            <a:extLst>
              <a:ext uri="{FF2B5EF4-FFF2-40B4-BE49-F238E27FC236}">
                <a16:creationId xmlns:a16="http://schemas.microsoft.com/office/drawing/2014/main" id="{EDE1298D-A4F7-F1E4-F1B3-3D2F5117E04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 name="Imagen 3">
            <a:extLst>
              <a:ext uri="{FF2B5EF4-FFF2-40B4-BE49-F238E27FC236}">
                <a16:creationId xmlns:a16="http://schemas.microsoft.com/office/drawing/2014/main" id="{69B39820-C822-5D71-439D-76D8E95C16E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54859" y="303050"/>
            <a:ext cx="855785" cy="833982"/>
          </a:xfrm>
          <a:prstGeom prst="rect">
            <a:avLst/>
          </a:prstGeom>
        </p:spPr>
      </p:pic>
    </p:spTree>
    <p:extLst>
      <p:ext uri="{BB962C8B-B14F-4D97-AF65-F5344CB8AC3E}">
        <p14:creationId xmlns:p14="http://schemas.microsoft.com/office/powerpoint/2010/main" val="3370360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17/11/2025</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17/11/2025</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 id="2147483675" r:id="rId13"/>
    <p:sldLayoutId id="21474836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995422" y="2551837"/>
            <a:ext cx="6453678" cy="923330"/>
          </a:xfrm>
          <a:prstGeom prst="rect">
            <a:avLst/>
          </a:prstGeom>
          <a:noFill/>
        </p:spPr>
        <p:txBody>
          <a:bodyPr wrap="square" rtlCol="0">
            <a:spAutoFit/>
          </a:bodyPr>
          <a:lstStyle/>
          <a:p>
            <a:r>
              <a:rPr lang="es-ES" sz="5400" b="1" dirty="0">
                <a:latin typeface="Work Sans" pitchFamily="2" charset="77"/>
              </a:rPr>
              <a:t>PITCH</a:t>
            </a:r>
            <a:endParaRPr lang="es-ES" sz="4000" b="1" dirty="0">
              <a:latin typeface="Work Sans" pitchFamily="2" charset="77"/>
            </a:endParaRP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6D04A5A-19A9-0ACE-6D0F-5E02EDC9D1DE}"/>
              </a:ext>
            </a:extLst>
          </p:cNvPr>
          <p:cNvSpPr txBox="1"/>
          <p:nvPr/>
        </p:nvSpPr>
        <p:spPr>
          <a:xfrm>
            <a:off x="1455963" y="1397625"/>
            <a:ext cx="9280071" cy="1015663"/>
          </a:xfrm>
          <a:prstGeom prst="rect">
            <a:avLst/>
          </a:prstGeom>
          <a:noFill/>
        </p:spPr>
        <p:txBody>
          <a:bodyPr wrap="square" rtlCol="0">
            <a:spAutoFit/>
          </a:bodyPr>
          <a:lstStyle/>
          <a:p>
            <a:pPr algn="ctr"/>
            <a:r>
              <a:rPr lang="es-CO" sz="2000" b="1" dirty="0">
                <a:cs typeface="Arial" panose="020B0604020202020204" pitchFamily="34" charset="0"/>
              </a:rPr>
              <a:t>POTENCIAR EL APRENDIZAJE DEL INGLÉS TÉCNICO MEDIANTE UNA APLICACIÓN INTERACTIVA Y GAMIFICADA CON INTELIGENCIA ARTIFICIAL PARA EL PROGRAMA ADSO DEL SENA</a:t>
            </a:r>
          </a:p>
        </p:txBody>
      </p:sp>
      <p:cxnSp>
        <p:nvCxnSpPr>
          <p:cNvPr id="6" name="Conector recto 5">
            <a:extLst>
              <a:ext uri="{FF2B5EF4-FFF2-40B4-BE49-F238E27FC236}">
                <a16:creationId xmlns:a16="http://schemas.microsoft.com/office/drawing/2014/main" id="{12E6F1CF-C64D-CB82-1478-686F9F9BAF5F}"/>
              </a:ext>
            </a:extLst>
          </p:cNvPr>
          <p:cNvCxnSpPr>
            <a:cxnSpLocks/>
          </p:cNvCxnSpPr>
          <p:nvPr/>
        </p:nvCxnSpPr>
        <p:spPr>
          <a:xfrm>
            <a:off x="5227894" y="2962705"/>
            <a:ext cx="1736203" cy="0"/>
          </a:xfrm>
          <a:prstGeom prst="line">
            <a:avLst/>
          </a:prstGeom>
          <a:ln>
            <a:solidFill>
              <a:srgbClr val="38AA00"/>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9896E8B4-453C-7E26-D038-59933D4B744F}"/>
              </a:ext>
            </a:extLst>
          </p:cNvPr>
          <p:cNvSpPr txBox="1"/>
          <p:nvPr/>
        </p:nvSpPr>
        <p:spPr>
          <a:xfrm>
            <a:off x="3681883" y="3429000"/>
            <a:ext cx="4828227" cy="2246769"/>
          </a:xfrm>
          <a:prstGeom prst="rect">
            <a:avLst/>
          </a:prstGeom>
          <a:noFill/>
        </p:spPr>
        <p:txBody>
          <a:bodyPr wrap="square" rtlCol="0">
            <a:spAutoFit/>
          </a:bodyPr>
          <a:lstStyle/>
          <a:p>
            <a:pPr algn="ctr"/>
            <a:r>
              <a:rPr lang="pt-BR" sz="2000" dirty="0">
                <a:cs typeface="Arial" panose="020B0604020202020204" pitchFamily="34" charset="0"/>
              </a:rPr>
              <a:t>Erik Santiago Alegría Rojas</a:t>
            </a:r>
          </a:p>
          <a:p>
            <a:pPr algn="ctr"/>
            <a:r>
              <a:rPr lang="pt-BR" sz="2000" dirty="0">
                <a:cs typeface="Arial" panose="020B0604020202020204" pitchFamily="34" charset="0"/>
              </a:rPr>
              <a:t>Karen </a:t>
            </a:r>
            <a:r>
              <a:rPr lang="pt-BR" sz="2000" dirty="0" err="1">
                <a:cs typeface="Arial" panose="020B0604020202020204" pitchFamily="34" charset="0"/>
              </a:rPr>
              <a:t>Niheidy</a:t>
            </a:r>
            <a:r>
              <a:rPr lang="pt-BR" sz="2000" dirty="0">
                <a:cs typeface="Arial" panose="020B0604020202020204" pitchFamily="34" charset="0"/>
              </a:rPr>
              <a:t> </a:t>
            </a:r>
            <a:r>
              <a:rPr lang="pt-BR" sz="2000" dirty="0" err="1">
                <a:cs typeface="Arial" panose="020B0604020202020204" pitchFamily="34" charset="0"/>
              </a:rPr>
              <a:t>Pastás</a:t>
            </a:r>
            <a:r>
              <a:rPr lang="pt-BR" sz="2000" dirty="0">
                <a:cs typeface="Arial" panose="020B0604020202020204" pitchFamily="34" charset="0"/>
              </a:rPr>
              <a:t> Valencia</a:t>
            </a:r>
          </a:p>
          <a:p>
            <a:pPr algn="ctr"/>
            <a:r>
              <a:rPr lang="pt-BR" sz="2000" dirty="0">
                <a:cs typeface="Arial" panose="020B0604020202020204" pitchFamily="34" charset="0"/>
              </a:rPr>
              <a:t>Victor Daniel Silva Caicedo</a:t>
            </a:r>
          </a:p>
          <a:p>
            <a:pPr algn="ctr"/>
            <a:r>
              <a:rPr lang="pt-BR" sz="2000" dirty="0">
                <a:cs typeface="Arial" panose="020B0604020202020204" pitchFamily="34" charset="0"/>
              </a:rPr>
              <a:t>Emmanuel </a:t>
            </a:r>
            <a:r>
              <a:rPr lang="pt-BR" sz="2000" dirty="0" err="1">
                <a:cs typeface="Arial" panose="020B0604020202020204" pitchFamily="34" charset="0"/>
              </a:rPr>
              <a:t>Bonilla</a:t>
            </a:r>
            <a:r>
              <a:rPr lang="pt-BR" sz="2000" dirty="0">
                <a:cs typeface="Arial" panose="020B0604020202020204" pitchFamily="34" charset="0"/>
              </a:rPr>
              <a:t> Salazar</a:t>
            </a:r>
          </a:p>
          <a:p>
            <a:pPr algn="ctr"/>
            <a:r>
              <a:rPr lang="pt-BR" sz="2000" dirty="0">
                <a:cs typeface="Arial" panose="020B0604020202020204" pitchFamily="34" charset="0"/>
              </a:rPr>
              <a:t>Andrés Felipe Montano</a:t>
            </a:r>
          </a:p>
          <a:p>
            <a:pPr algn="ctr"/>
            <a:r>
              <a:rPr lang="pt-BR" sz="2000" dirty="0">
                <a:cs typeface="Arial" panose="020B0604020202020204" pitchFamily="34" charset="0"/>
              </a:rPr>
              <a:t>Karen Vanessa </a:t>
            </a:r>
            <a:r>
              <a:rPr lang="pt-BR" sz="2000" dirty="0" err="1">
                <a:cs typeface="Arial" panose="020B0604020202020204" pitchFamily="34" charset="0"/>
              </a:rPr>
              <a:t>Castañeda</a:t>
            </a:r>
            <a:r>
              <a:rPr lang="pt-BR" sz="2000" dirty="0">
                <a:cs typeface="Arial" panose="020B0604020202020204" pitchFamily="34" charset="0"/>
              </a:rPr>
              <a:t> </a:t>
            </a:r>
            <a:r>
              <a:rPr lang="pt-BR" sz="2000" dirty="0" err="1">
                <a:cs typeface="Arial" panose="020B0604020202020204" pitchFamily="34" charset="0"/>
              </a:rPr>
              <a:t>Morán</a:t>
            </a:r>
            <a:endParaRPr lang="pt-BR" sz="2000" dirty="0">
              <a:cs typeface="Arial" panose="020B0604020202020204" pitchFamily="34" charset="0"/>
            </a:endParaRPr>
          </a:p>
          <a:p>
            <a:pPr algn="ctr"/>
            <a:r>
              <a:rPr lang="pt-BR" sz="2000" dirty="0">
                <a:cs typeface="Arial" panose="020B0604020202020204" pitchFamily="34" charset="0"/>
              </a:rPr>
              <a:t>Cristian David </a:t>
            </a:r>
            <a:r>
              <a:rPr lang="pt-BR" sz="2000" dirty="0" err="1">
                <a:cs typeface="Arial" panose="020B0604020202020204" pitchFamily="34" charset="0"/>
              </a:rPr>
              <a:t>Yalandad</a:t>
            </a:r>
            <a:r>
              <a:rPr lang="pt-BR" sz="2000" dirty="0">
                <a:cs typeface="Arial" panose="020B0604020202020204" pitchFamily="34" charset="0"/>
              </a:rPr>
              <a:t> </a:t>
            </a:r>
            <a:r>
              <a:rPr lang="pt-BR" sz="2000" dirty="0" err="1">
                <a:cs typeface="Arial" panose="020B0604020202020204" pitchFamily="34" charset="0"/>
              </a:rPr>
              <a:t>Pillimue</a:t>
            </a:r>
            <a:endParaRPr lang="es-CO" sz="2000" dirty="0">
              <a:cs typeface="Arial" panose="020B0604020202020204" pitchFamily="34" charset="0"/>
            </a:endParaRPr>
          </a:p>
        </p:txBody>
      </p:sp>
    </p:spTree>
    <p:extLst>
      <p:ext uri="{BB962C8B-B14F-4D97-AF65-F5344CB8AC3E}">
        <p14:creationId xmlns:p14="http://schemas.microsoft.com/office/powerpoint/2010/main" val="2099732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A97DC05-4A6B-3E0B-D2C7-E6FB8FE7B99F}"/>
              </a:ext>
            </a:extLst>
          </p:cNvPr>
          <p:cNvPicPr>
            <a:picLocks noChangeAspect="1"/>
          </p:cNvPicPr>
          <p:nvPr/>
        </p:nvPicPr>
        <p:blipFill rotWithShape="1">
          <a:blip r:embed="rId3"/>
          <a:srcRect l="32368" t="1873" r="14387" b="787"/>
          <a:stretch/>
        </p:blipFill>
        <p:spPr>
          <a:xfrm>
            <a:off x="5212535" y="0"/>
            <a:ext cx="6979465" cy="6858000"/>
          </a:xfrm>
          <a:prstGeom prst="rect">
            <a:avLst/>
          </a:prstGeom>
        </p:spPr>
      </p:pic>
      <p:sp>
        <p:nvSpPr>
          <p:cNvPr id="4" name="Título 1">
            <a:extLst>
              <a:ext uri="{FF2B5EF4-FFF2-40B4-BE49-F238E27FC236}">
                <a16:creationId xmlns:a16="http://schemas.microsoft.com/office/drawing/2014/main" id="{EE37A3CD-1BAC-6175-4755-9AC66A46B6FF}"/>
              </a:ext>
            </a:extLst>
          </p:cNvPr>
          <p:cNvSpPr txBox="1">
            <a:spLocks/>
          </p:cNvSpPr>
          <p:nvPr/>
        </p:nvSpPr>
        <p:spPr>
          <a:xfrm>
            <a:off x="1358167" y="1808033"/>
            <a:ext cx="3079252"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000" dirty="0">
                <a:latin typeface="+mn-lt"/>
                <a:cs typeface="Arial" panose="020B0604020202020204" pitchFamily="34" charset="0"/>
              </a:rPr>
              <a:t>CONTENIDO</a:t>
            </a:r>
          </a:p>
        </p:txBody>
      </p:sp>
      <p:sp>
        <p:nvSpPr>
          <p:cNvPr id="7" name="CuadroTexto 6">
            <a:extLst>
              <a:ext uri="{FF2B5EF4-FFF2-40B4-BE49-F238E27FC236}">
                <a16:creationId xmlns:a16="http://schemas.microsoft.com/office/drawing/2014/main" id="{FBAA83CA-F5E1-3945-40AB-1CB1B233A0BF}"/>
              </a:ext>
            </a:extLst>
          </p:cNvPr>
          <p:cNvSpPr txBox="1"/>
          <p:nvPr/>
        </p:nvSpPr>
        <p:spPr>
          <a:xfrm>
            <a:off x="1358167" y="2606164"/>
            <a:ext cx="3854368" cy="2554545"/>
          </a:xfrm>
          <a:prstGeom prst="rect">
            <a:avLst/>
          </a:prstGeom>
          <a:noFill/>
        </p:spPr>
        <p:txBody>
          <a:bodyPr wrap="square" rtlCol="0">
            <a:spAutoFit/>
          </a:bodyPr>
          <a:lstStyle/>
          <a:p>
            <a:pPr marL="457200" indent="-457200">
              <a:buFont typeface="+mj-lt"/>
              <a:buAutoNum type="arabicPeriod"/>
            </a:pPr>
            <a:r>
              <a:rPr lang="es-CO" sz="2000" dirty="0">
                <a:cs typeface="Arial" panose="020B0604020202020204" pitchFamily="34" charset="0"/>
              </a:rPr>
              <a:t>Planteamiento del problema</a:t>
            </a:r>
          </a:p>
          <a:p>
            <a:pPr marL="457200" indent="-457200">
              <a:buFont typeface="+mj-lt"/>
              <a:buAutoNum type="arabicPeriod"/>
            </a:pPr>
            <a:r>
              <a:rPr lang="es-CO" sz="2000" dirty="0">
                <a:cs typeface="Arial" panose="020B0604020202020204" pitchFamily="34" charset="0"/>
              </a:rPr>
              <a:t>Justificación</a:t>
            </a:r>
          </a:p>
          <a:p>
            <a:pPr marL="457200" indent="-457200">
              <a:buFont typeface="+mj-lt"/>
              <a:buAutoNum type="arabicPeriod"/>
            </a:pPr>
            <a:r>
              <a:rPr lang="es-CO" sz="2000" dirty="0">
                <a:cs typeface="Arial" panose="020B0604020202020204" pitchFamily="34" charset="0"/>
              </a:rPr>
              <a:t>Objetivo general</a:t>
            </a:r>
          </a:p>
          <a:p>
            <a:pPr marL="457200" indent="-457200">
              <a:buFont typeface="+mj-lt"/>
              <a:buAutoNum type="arabicPeriod"/>
            </a:pPr>
            <a:r>
              <a:rPr lang="es-CO" sz="2000" dirty="0">
                <a:cs typeface="Arial" panose="020B0604020202020204" pitchFamily="34" charset="0"/>
              </a:rPr>
              <a:t>Objetivos específicos</a:t>
            </a:r>
          </a:p>
          <a:p>
            <a:pPr marL="457200" indent="-457200">
              <a:buFont typeface="+mj-lt"/>
              <a:buAutoNum type="arabicPeriod"/>
            </a:pPr>
            <a:r>
              <a:rPr lang="es-CO" sz="2000" dirty="0">
                <a:cs typeface="Arial" panose="020B0604020202020204" pitchFamily="34" charset="0"/>
              </a:rPr>
              <a:t>Alcance</a:t>
            </a:r>
          </a:p>
          <a:p>
            <a:pPr marL="457200" indent="-457200">
              <a:buFont typeface="+mj-lt"/>
              <a:buAutoNum type="arabicPeriod"/>
            </a:pPr>
            <a:r>
              <a:rPr lang="es-CO" sz="2000" dirty="0">
                <a:cs typeface="Arial" panose="020B0604020202020204" pitchFamily="34" charset="0"/>
              </a:rPr>
              <a:t>Antecedentes</a:t>
            </a:r>
          </a:p>
          <a:p>
            <a:pPr marL="457200" indent="-457200">
              <a:buFont typeface="+mj-lt"/>
              <a:buAutoNum type="arabicPeriod"/>
            </a:pPr>
            <a:r>
              <a:rPr lang="es-CO" sz="2000" dirty="0">
                <a:cs typeface="Arial" panose="020B0604020202020204" pitchFamily="34" charset="0"/>
              </a:rPr>
              <a:t>Impactos </a:t>
            </a:r>
          </a:p>
          <a:p>
            <a:pPr marL="457200" indent="-457200">
              <a:buFont typeface="+mj-lt"/>
              <a:buAutoNum type="arabicPeriod"/>
            </a:pPr>
            <a:r>
              <a:rPr lang="es-CO" sz="2000" dirty="0">
                <a:cs typeface="Arial" panose="020B0604020202020204" pitchFamily="34" charset="0"/>
              </a:rPr>
              <a:t>Funcionalidades</a:t>
            </a:r>
          </a:p>
        </p:txBody>
      </p:sp>
    </p:spTree>
    <p:extLst>
      <p:ext uri="{BB962C8B-B14F-4D97-AF65-F5344CB8AC3E}">
        <p14:creationId xmlns:p14="http://schemas.microsoft.com/office/powerpoint/2010/main" val="685387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807238" y="385737"/>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b="1" dirty="0">
                <a:latin typeface="+mn-lt"/>
                <a:cs typeface="Arial" panose="020B0604020202020204" pitchFamily="34" charset="0"/>
              </a:rPr>
              <a:t>PLANTEAMIENTO DEL PROBLEMA</a:t>
            </a:r>
            <a:endParaRPr lang="es-ES" sz="4400" b="1" dirty="0">
              <a:latin typeface="+mn-lt"/>
              <a:cs typeface="Arial" panose="020B0604020202020204" pitchFamily="34" charset="0"/>
            </a:endParaRPr>
          </a:p>
          <a:p>
            <a:endParaRPr lang="es-CO" dirty="0">
              <a:latin typeface="+mn-lt"/>
            </a:endParaRPr>
          </a:p>
        </p:txBody>
      </p:sp>
      <p:sp>
        <p:nvSpPr>
          <p:cNvPr id="3" name="CuadroTexto 2">
            <a:extLst>
              <a:ext uri="{FF2B5EF4-FFF2-40B4-BE49-F238E27FC236}">
                <a16:creationId xmlns:a16="http://schemas.microsoft.com/office/drawing/2014/main" id="{55AC9525-6C66-8BFB-426D-EDF7A6FF52FE}"/>
              </a:ext>
            </a:extLst>
          </p:cNvPr>
          <p:cNvSpPr txBox="1"/>
          <p:nvPr/>
        </p:nvSpPr>
        <p:spPr>
          <a:xfrm>
            <a:off x="456236" y="1366344"/>
            <a:ext cx="11217604" cy="400110"/>
          </a:xfrm>
          <a:prstGeom prst="rect">
            <a:avLst/>
          </a:prstGeom>
          <a:noFill/>
        </p:spPr>
        <p:txBody>
          <a:bodyPr wrap="square" rtlCol="0">
            <a:spAutoFit/>
          </a:bodyPr>
          <a:lstStyle/>
          <a:p>
            <a:r>
              <a:rPr lang="es-MX" sz="2000" b="1" dirty="0">
                <a:cs typeface="Arial" panose="020B0604020202020204" pitchFamily="34" charset="0"/>
              </a:rPr>
              <a:t>1. Problemas estructurales del aprendizaje del inglés en Colombia:</a:t>
            </a:r>
            <a:endParaRPr lang="es-MX" sz="2000" dirty="0"/>
          </a:p>
        </p:txBody>
      </p:sp>
      <p:sp>
        <p:nvSpPr>
          <p:cNvPr id="5" name="CuadroTexto 4">
            <a:extLst>
              <a:ext uri="{FF2B5EF4-FFF2-40B4-BE49-F238E27FC236}">
                <a16:creationId xmlns:a16="http://schemas.microsoft.com/office/drawing/2014/main" id="{68DC3563-4142-453B-96F4-A1DFB657DBCD}"/>
              </a:ext>
            </a:extLst>
          </p:cNvPr>
          <p:cNvSpPr txBox="1"/>
          <p:nvPr/>
        </p:nvSpPr>
        <p:spPr>
          <a:xfrm>
            <a:off x="807238" y="1766454"/>
            <a:ext cx="8683822" cy="1200329"/>
          </a:xfrm>
          <a:prstGeom prst="rect">
            <a:avLst/>
          </a:prstGeom>
          <a:noFill/>
        </p:spPr>
        <p:txBody>
          <a:bodyPr wrap="square">
            <a:spAutoFit/>
          </a:bodyPr>
          <a:lstStyle/>
          <a:p>
            <a:pPr marL="285750" indent="-285750">
              <a:buFont typeface="Arial" panose="020B0604020202020204" pitchFamily="34" charset="0"/>
              <a:buChar char="•"/>
            </a:pPr>
            <a:r>
              <a:rPr lang="es-MX" dirty="0">
                <a:cs typeface="Arial" panose="020B0604020202020204" pitchFamily="34" charset="0"/>
              </a:rPr>
              <a:t>Baja intensidad horaria en la educación básica</a:t>
            </a:r>
          </a:p>
          <a:p>
            <a:pPr marL="285750" indent="-285750">
              <a:buFont typeface="Arial" panose="020B0604020202020204" pitchFamily="34" charset="0"/>
              <a:buChar char="•"/>
            </a:pPr>
            <a:r>
              <a:rPr lang="es-CO" dirty="0">
                <a:cs typeface="Arial" panose="020B0604020202020204" pitchFamily="34" charset="0"/>
              </a:rPr>
              <a:t>Metodologías tradicionales poco efectivas</a:t>
            </a:r>
            <a:endParaRPr lang="es-MX" dirty="0">
              <a:cs typeface="Arial" panose="020B0604020202020204" pitchFamily="34" charset="0"/>
            </a:endParaRPr>
          </a:p>
          <a:p>
            <a:pPr marL="285750" indent="-285750">
              <a:buFont typeface="Arial" panose="020B0604020202020204" pitchFamily="34" charset="0"/>
              <a:buChar char="•"/>
            </a:pPr>
            <a:r>
              <a:rPr lang="es-MX" dirty="0">
                <a:cs typeface="Arial" panose="020B0604020202020204" pitchFamily="34" charset="0"/>
              </a:rPr>
              <a:t>Escasa práctica de producción oral y auditiva</a:t>
            </a:r>
          </a:p>
          <a:p>
            <a:pPr marL="285750" indent="-285750">
              <a:buFont typeface="Arial" panose="020B0604020202020204" pitchFamily="34" charset="0"/>
              <a:buChar char="•"/>
            </a:pPr>
            <a:r>
              <a:rPr lang="es-MX" dirty="0">
                <a:cs typeface="Arial" panose="020B0604020202020204" pitchFamily="34" charset="0"/>
              </a:rPr>
              <a:t>Falta de exposición a situaciones reales</a:t>
            </a:r>
            <a:endParaRPr lang="es-MX" sz="1800" dirty="0">
              <a:cs typeface="Arial" panose="020B0604020202020204" pitchFamily="34" charset="0"/>
            </a:endParaRPr>
          </a:p>
        </p:txBody>
      </p:sp>
      <p:sp>
        <p:nvSpPr>
          <p:cNvPr id="7" name="CuadroTexto 6">
            <a:extLst>
              <a:ext uri="{FF2B5EF4-FFF2-40B4-BE49-F238E27FC236}">
                <a16:creationId xmlns:a16="http://schemas.microsoft.com/office/drawing/2014/main" id="{680C3945-22AD-45D7-BE53-57FEB85FDB24}"/>
              </a:ext>
            </a:extLst>
          </p:cNvPr>
          <p:cNvSpPr txBox="1"/>
          <p:nvPr/>
        </p:nvSpPr>
        <p:spPr>
          <a:xfrm>
            <a:off x="456236" y="3035092"/>
            <a:ext cx="8338076" cy="400110"/>
          </a:xfrm>
          <a:prstGeom prst="rect">
            <a:avLst/>
          </a:prstGeom>
          <a:noFill/>
        </p:spPr>
        <p:txBody>
          <a:bodyPr wrap="square">
            <a:spAutoFit/>
          </a:bodyPr>
          <a:lstStyle/>
          <a:p>
            <a:r>
              <a:rPr lang="es-MX" sz="2000" b="1" dirty="0">
                <a:cs typeface="Arial" panose="020B0604020202020204" pitchFamily="34" charset="0"/>
              </a:rPr>
              <a:t>2. Problemáticas específicas del SENA en la formación del inglés:</a:t>
            </a:r>
          </a:p>
        </p:txBody>
      </p:sp>
      <p:sp>
        <p:nvSpPr>
          <p:cNvPr id="8" name="CuadroTexto 7">
            <a:extLst>
              <a:ext uri="{FF2B5EF4-FFF2-40B4-BE49-F238E27FC236}">
                <a16:creationId xmlns:a16="http://schemas.microsoft.com/office/drawing/2014/main" id="{6D34A0DF-DD3B-415F-8EC7-C03821EA2F86}"/>
              </a:ext>
            </a:extLst>
          </p:cNvPr>
          <p:cNvSpPr txBox="1"/>
          <p:nvPr/>
        </p:nvSpPr>
        <p:spPr>
          <a:xfrm>
            <a:off x="807238" y="3366893"/>
            <a:ext cx="8683822" cy="923330"/>
          </a:xfrm>
          <a:prstGeom prst="rect">
            <a:avLst/>
          </a:prstGeom>
          <a:noFill/>
        </p:spPr>
        <p:txBody>
          <a:bodyPr wrap="square">
            <a:spAutoFit/>
          </a:bodyPr>
          <a:lstStyle/>
          <a:p>
            <a:pPr marL="285750" indent="-285750">
              <a:buFont typeface="Arial" panose="020B0604020202020204" pitchFamily="34" charset="0"/>
              <a:buChar char="•"/>
            </a:pPr>
            <a:r>
              <a:rPr lang="es-MX" dirty="0">
                <a:cs typeface="Arial" panose="020B0604020202020204" pitchFamily="34" charset="0"/>
              </a:rPr>
              <a:t>Las horas de inglés en programas técnicos y tecnológicos son limitadas</a:t>
            </a:r>
          </a:p>
          <a:p>
            <a:pPr marL="285750" indent="-285750">
              <a:buFont typeface="Arial" panose="020B0604020202020204" pitchFamily="34" charset="0"/>
              <a:buChar char="•"/>
            </a:pPr>
            <a:r>
              <a:rPr lang="es-MX" dirty="0">
                <a:cs typeface="Arial" panose="020B0604020202020204" pitchFamily="34" charset="0"/>
              </a:rPr>
              <a:t>Dificultad para personalizar el aprendizaje</a:t>
            </a:r>
          </a:p>
          <a:p>
            <a:pPr marL="285750" indent="-285750">
              <a:buFont typeface="Arial" panose="020B0604020202020204" pitchFamily="34" charset="0"/>
              <a:buChar char="•"/>
            </a:pPr>
            <a:r>
              <a:rPr lang="es-MX" dirty="0">
                <a:cs typeface="Arial" panose="020B0604020202020204" pitchFamily="34" charset="0"/>
              </a:rPr>
              <a:t>El inglés general no responde a las necesidades del sector TI</a:t>
            </a:r>
            <a:endParaRPr lang="es-MX" sz="1800" dirty="0">
              <a:cs typeface="Arial" panose="020B0604020202020204" pitchFamily="34" charset="0"/>
            </a:endParaRPr>
          </a:p>
        </p:txBody>
      </p:sp>
      <p:sp>
        <p:nvSpPr>
          <p:cNvPr id="11" name="CuadroTexto 10">
            <a:extLst>
              <a:ext uri="{FF2B5EF4-FFF2-40B4-BE49-F238E27FC236}">
                <a16:creationId xmlns:a16="http://schemas.microsoft.com/office/drawing/2014/main" id="{1E81943E-C055-4C70-BEAC-DF737FA23128}"/>
              </a:ext>
            </a:extLst>
          </p:cNvPr>
          <p:cNvSpPr txBox="1"/>
          <p:nvPr/>
        </p:nvSpPr>
        <p:spPr>
          <a:xfrm>
            <a:off x="456236" y="4358532"/>
            <a:ext cx="8338076" cy="400110"/>
          </a:xfrm>
          <a:prstGeom prst="rect">
            <a:avLst/>
          </a:prstGeom>
          <a:noFill/>
        </p:spPr>
        <p:txBody>
          <a:bodyPr wrap="square">
            <a:spAutoFit/>
          </a:bodyPr>
          <a:lstStyle/>
          <a:p>
            <a:r>
              <a:rPr lang="es-MX" sz="2000" b="1" dirty="0">
                <a:cs typeface="Arial" panose="020B0604020202020204" pitchFamily="34" charset="0"/>
              </a:rPr>
              <a:t>3. Limitaciones del mercado educativo actual:</a:t>
            </a:r>
          </a:p>
        </p:txBody>
      </p:sp>
      <p:sp>
        <p:nvSpPr>
          <p:cNvPr id="12" name="CuadroTexto 11">
            <a:extLst>
              <a:ext uri="{FF2B5EF4-FFF2-40B4-BE49-F238E27FC236}">
                <a16:creationId xmlns:a16="http://schemas.microsoft.com/office/drawing/2014/main" id="{5D4AACD8-198A-45A5-8593-206FBB13F1BB}"/>
              </a:ext>
            </a:extLst>
          </p:cNvPr>
          <p:cNvSpPr txBox="1"/>
          <p:nvPr/>
        </p:nvSpPr>
        <p:spPr>
          <a:xfrm>
            <a:off x="807238" y="4690333"/>
            <a:ext cx="10515600" cy="1477328"/>
          </a:xfrm>
          <a:prstGeom prst="rect">
            <a:avLst/>
          </a:prstGeom>
          <a:noFill/>
        </p:spPr>
        <p:txBody>
          <a:bodyPr wrap="square">
            <a:spAutoFit/>
          </a:bodyPr>
          <a:lstStyle/>
          <a:p>
            <a:pPr marL="285750" indent="-285750">
              <a:buFont typeface="Arial" panose="020B0604020202020204" pitchFamily="34" charset="0"/>
              <a:buChar char="•"/>
            </a:pPr>
            <a:r>
              <a:rPr lang="es-MX" b="1" dirty="0">
                <a:cs typeface="Arial" panose="020B0604020202020204" pitchFamily="34" charset="0"/>
              </a:rPr>
              <a:t>Las aplicaciones más usadas (Duolingo, Babbel, </a:t>
            </a:r>
            <a:r>
              <a:rPr lang="es-MX" b="1" dirty="0" err="1">
                <a:cs typeface="Arial" panose="020B0604020202020204" pitchFamily="34" charset="0"/>
              </a:rPr>
              <a:t>Busuu</a:t>
            </a:r>
            <a:r>
              <a:rPr lang="es-MX" b="1" dirty="0">
                <a:cs typeface="Arial" panose="020B0604020202020204" pitchFamily="34" charset="0"/>
              </a:rPr>
              <a:t>)</a:t>
            </a:r>
            <a:r>
              <a:rPr lang="es-MX" dirty="0">
                <a:cs typeface="Arial" panose="020B0604020202020204" pitchFamily="34" charset="0"/>
              </a:rPr>
              <a:t> se centran en inglés general, sin integrar vocabulario técnico ni situaciones del mundo del software.</a:t>
            </a:r>
          </a:p>
          <a:p>
            <a:pPr marL="285750" indent="-285750">
              <a:buFont typeface="Arial" panose="020B0604020202020204" pitchFamily="34" charset="0"/>
              <a:buChar char="•"/>
            </a:pPr>
            <a:r>
              <a:rPr lang="es-MX" b="1" dirty="0">
                <a:cs typeface="Arial" panose="020B0604020202020204" pitchFamily="34" charset="0"/>
              </a:rPr>
              <a:t>Ausencia de plataformas diseñadas para el contexto colombiano y para el entorno productivo del SENA:</a:t>
            </a:r>
            <a:r>
              <a:rPr lang="es-MX" dirty="0">
                <a:cs typeface="Arial" panose="020B0604020202020204" pitchFamily="34" charset="0"/>
              </a:rPr>
              <a:t> Ninguna ofrece rutas formativas personalizadas que respondan a necesidades reales de los aprendices técnicos y tecnológicos.</a:t>
            </a:r>
          </a:p>
        </p:txBody>
      </p:sp>
    </p:spTree>
    <p:extLst>
      <p:ext uri="{BB962C8B-B14F-4D97-AF65-F5344CB8AC3E}">
        <p14:creationId xmlns:p14="http://schemas.microsoft.com/office/powerpoint/2010/main" val="1500403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4400" b="1" dirty="0">
                <a:latin typeface="+mn-lt"/>
                <a:cs typeface="Arial" panose="020B0604020202020204" pitchFamily="34" charset="0"/>
              </a:rPr>
              <a:t>JUSTIFICACIÓN</a:t>
            </a:r>
          </a:p>
        </p:txBody>
      </p:sp>
      <p:sp>
        <p:nvSpPr>
          <p:cNvPr id="4" name="CuadroTexto 3">
            <a:extLst>
              <a:ext uri="{FF2B5EF4-FFF2-40B4-BE49-F238E27FC236}">
                <a16:creationId xmlns:a16="http://schemas.microsoft.com/office/drawing/2014/main" id="{C564C915-F527-46EE-AE43-084FEF3C1D71}"/>
              </a:ext>
            </a:extLst>
          </p:cNvPr>
          <p:cNvSpPr txBox="1"/>
          <p:nvPr/>
        </p:nvSpPr>
        <p:spPr>
          <a:xfrm>
            <a:off x="456236" y="1134321"/>
            <a:ext cx="11217604" cy="477054"/>
          </a:xfrm>
          <a:prstGeom prst="rect">
            <a:avLst/>
          </a:prstGeom>
          <a:noFill/>
        </p:spPr>
        <p:txBody>
          <a:bodyPr wrap="square" rtlCol="0">
            <a:spAutoFit/>
          </a:bodyPr>
          <a:lstStyle/>
          <a:p>
            <a:r>
              <a:rPr lang="es-MX" sz="2500" b="1" dirty="0">
                <a:cs typeface="Arial" panose="020B0604020202020204" pitchFamily="34" charset="0"/>
              </a:rPr>
              <a:t>1. Pertinencia pedagógica:</a:t>
            </a:r>
            <a:endParaRPr lang="es-MX" sz="2500" dirty="0"/>
          </a:p>
        </p:txBody>
      </p:sp>
      <p:sp>
        <p:nvSpPr>
          <p:cNvPr id="5" name="CuadroTexto 4">
            <a:extLst>
              <a:ext uri="{FF2B5EF4-FFF2-40B4-BE49-F238E27FC236}">
                <a16:creationId xmlns:a16="http://schemas.microsoft.com/office/drawing/2014/main" id="{EFF1D15F-CB69-4032-8A0B-4A806B667C58}"/>
              </a:ext>
            </a:extLst>
          </p:cNvPr>
          <p:cNvSpPr txBox="1"/>
          <p:nvPr/>
        </p:nvSpPr>
        <p:spPr>
          <a:xfrm>
            <a:off x="807238" y="1534431"/>
            <a:ext cx="10164598" cy="2031325"/>
          </a:xfrm>
          <a:prstGeom prst="rect">
            <a:avLst/>
          </a:prstGeom>
          <a:noFill/>
        </p:spPr>
        <p:txBody>
          <a:bodyPr wrap="square">
            <a:spAutoFit/>
          </a:bodyPr>
          <a:lstStyle/>
          <a:p>
            <a:pPr marL="285750" indent="-285750">
              <a:buFont typeface="Arial" panose="020B0604020202020204" pitchFamily="34" charset="0"/>
              <a:buChar char="•"/>
            </a:pPr>
            <a:r>
              <a:rPr lang="es-MX" dirty="0">
                <a:cs typeface="Arial" panose="020B0604020202020204" pitchFamily="34" charset="0"/>
              </a:rPr>
              <a:t>El inglés técnico es una competencia transversal esencial para los aprendices del programa ADSO, dado que la documentación, repositorios, cursos, librerías, comunidades de desarrollo y procesos laborales del sector TI se encuentran mayoritariamente en este idioma.</a:t>
            </a:r>
          </a:p>
          <a:p>
            <a:endParaRPr lang="es-MX" dirty="0">
              <a:cs typeface="Arial" panose="020B0604020202020204" pitchFamily="34" charset="0"/>
            </a:endParaRPr>
          </a:p>
          <a:p>
            <a:pPr marL="285750" indent="-285750">
              <a:buFont typeface="Arial" panose="020B0604020202020204" pitchFamily="34" charset="0"/>
              <a:buChar char="•"/>
            </a:pPr>
            <a:r>
              <a:rPr lang="es-MX" dirty="0" err="1">
                <a:cs typeface="Arial" panose="020B0604020202020204" pitchFamily="34" charset="0"/>
              </a:rPr>
              <a:t>SENALingua</a:t>
            </a:r>
            <a:r>
              <a:rPr lang="es-MX" dirty="0">
                <a:cs typeface="Arial" panose="020B0604020202020204" pitchFamily="34" charset="0"/>
              </a:rPr>
              <a:t> integra </a:t>
            </a:r>
            <a:r>
              <a:rPr lang="es-MX" b="1" dirty="0">
                <a:cs typeface="Arial" panose="020B0604020202020204" pitchFamily="34" charset="0"/>
              </a:rPr>
              <a:t>retos y ejemplos reales del entorno ADSO</a:t>
            </a:r>
            <a:r>
              <a:rPr lang="es-MX" dirty="0">
                <a:cs typeface="Arial" panose="020B0604020202020204" pitchFamily="34" charset="0"/>
              </a:rPr>
              <a:t> (lectura de documentación, análisis de </a:t>
            </a:r>
            <a:r>
              <a:rPr lang="es-MX" dirty="0" err="1">
                <a:cs typeface="Arial" panose="020B0604020202020204" pitchFamily="34" charset="0"/>
              </a:rPr>
              <a:t>APIs</a:t>
            </a:r>
            <a:r>
              <a:rPr lang="es-MX" dirty="0">
                <a:cs typeface="Arial" panose="020B0604020202020204" pitchFamily="34" charset="0"/>
              </a:rPr>
              <a:t>, vocabulario de proyectos, historias de usuario), permitiendo un proceso de aprendizaje contextualizado, significativo y directamente aplicable.</a:t>
            </a:r>
          </a:p>
        </p:txBody>
      </p:sp>
      <p:sp>
        <p:nvSpPr>
          <p:cNvPr id="8" name="CuadroTexto 7">
            <a:extLst>
              <a:ext uri="{FF2B5EF4-FFF2-40B4-BE49-F238E27FC236}">
                <a16:creationId xmlns:a16="http://schemas.microsoft.com/office/drawing/2014/main" id="{22229B47-1F9C-4F0D-830E-2C0EEA2A7ADE}"/>
              </a:ext>
            </a:extLst>
          </p:cNvPr>
          <p:cNvSpPr txBox="1"/>
          <p:nvPr/>
        </p:nvSpPr>
        <p:spPr>
          <a:xfrm>
            <a:off x="456236" y="3565756"/>
            <a:ext cx="11217604" cy="477054"/>
          </a:xfrm>
          <a:prstGeom prst="rect">
            <a:avLst/>
          </a:prstGeom>
          <a:noFill/>
        </p:spPr>
        <p:txBody>
          <a:bodyPr wrap="square" rtlCol="0">
            <a:spAutoFit/>
          </a:bodyPr>
          <a:lstStyle/>
          <a:p>
            <a:r>
              <a:rPr lang="es-MX" sz="2500" b="1" dirty="0">
                <a:cs typeface="Arial" panose="020B0604020202020204" pitchFamily="34" charset="0"/>
              </a:rPr>
              <a:t>2. </a:t>
            </a:r>
            <a:r>
              <a:rPr lang="es-MX" sz="2500" b="1" dirty="0"/>
              <a:t>Innovación educativa mediante IA, interactividad y gamificación:</a:t>
            </a:r>
          </a:p>
        </p:txBody>
      </p:sp>
      <p:sp>
        <p:nvSpPr>
          <p:cNvPr id="9" name="CuadroTexto 8">
            <a:extLst>
              <a:ext uri="{FF2B5EF4-FFF2-40B4-BE49-F238E27FC236}">
                <a16:creationId xmlns:a16="http://schemas.microsoft.com/office/drawing/2014/main" id="{A6BA8CBE-3781-4943-8DE9-966CD0019B7C}"/>
              </a:ext>
            </a:extLst>
          </p:cNvPr>
          <p:cNvSpPr txBox="1"/>
          <p:nvPr/>
        </p:nvSpPr>
        <p:spPr>
          <a:xfrm>
            <a:off x="807238" y="3965866"/>
            <a:ext cx="10164598" cy="646331"/>
          </a:xfrm>
          <a:prstGeom prst="rect">
            <a:avLst/>
          </a:prstGeom>
          <a:noFill/>
        </p:spPr>
        <p:txBody>
          <a:bodyPr wrap="square">
            <a:spAutoFit/>
          </a:bodyPr>
          <a:lstStyle/>
          <a:p>
            <a:pPr marL="285750" indent="-285750">
              <a:buFont typeface="Arial" panose="020B0604020202020204" pitchFamily="34" charset="0"/>
              <a:buChar char="•"/>
            </a:pPr>
            <a:r>
              <a:rPr lang="es-MX" dirty="0"/>
              <a:t>La interactividad y la gamificación potencian la motivación, aumentan la retención de contenido y generan una experiencia inmersiva que transforma la manera en que se aprende inglés técnico.</a:t>
            </a:r>
            <a:endParaRPr lang="es-MX" dirty="0">
              <a:cs typeface="Arial" panose="020B0604020202020204" pitchFamily="34" charset="0"/>
            </a:endParaRPr>
          </a:p>
        </p:txBody>
      </p:sp>
      <p:sp>
        <p:nvSpPr>
          <p:cNvPr id="12" name="CuadroTexto 11">
            <a:extLst>
              <a:ext uri="{FF2B5EF4-FFF2-40B4-BE49-F238E27FC236}">
                <a16:creationId xmlns:a16="http://schemas.microsoft.com/office/drawing/2014/main" id="{A287C01B-4B3D-43B5-A796-F42C87514307}"/>
              </a:ext>
            </a:extLst>
          </p:cNvPr>
          <p:cNvSpPr txBox="1"/>
          <p:nvPr/>
        </p:nvSpPr>
        <p:spPr>
          <a:xfrm>
            <a:off x="456236" y="4677238"/>
            <a:ext cx="11217604" cy="477054"/>
          </a:xfrm>
          <a:prstGeom prst="rect">
            <a:avLst/>
          </a:prstGeom>
          <a:noFill/>
        </p:spPr>
        <p:txBody>
          <a:bodyPr wrap="square" rtlCol="0">
            <a:spAutoFit/>
          </a:bodyPr>
          <a:lstStyle/>
          <a:p>
            <a:r>
              <a:rPr lang="es-MX" sz="2500" b="1" dirty="0">
                <a:cs typeface="Arial" panose="020B0604020202020204" pitchFamily="34" charset="0"/>
              </a:rPr>
              <a:t>3. </a:t>
            </a:r>
            <a:r>
              <a:rPr lang="es-MX" sz="2500" b="1" dirty="0"/>
              <a:t>Fortalecimiento docente y articulación con competencias técnicas:</a:t>
            </a:r>
          </a:p>
        </p:txBody>
      </p:sp>
      <p:sp>
        <p:nvSpPr>
          <p:cNvPr id="13" name="CuadroTexto 12">
            <a:extLst>
              <a:ext uri="{FF2B5EF4-FFF2-40B4-BE49-F238E27FC236}">
                <a16:creationId xmlns:a16="http://schemas.microsoft.com/office/drawing/2014/main" id="{21B7E345-E7AD-4840-ACC6-AD7D916D9FA7}"/>
              </a:ext>
            </a:extLst>
          </p:cNvPr>
          <p:cNvSpPr txBox="1"/>
          <p:nvPr/>
        </p:nvSpPr>
        <p:spPr>
          <a:xfrm>
            <a:off x="807238" y="5077348"/>
            <a:ext cx="10164598" cy="646331"/>
          </a:xfrm>
          <a:prstGeom prst="rect">
            <a:avLst/>
          </a:prstGeom>
          <a:noFill/>
        </p:spPr>
        <p:txBody>
          <a:bodyPr wrap="square">
            <a:spAutoFit/>
          </a:bodyPr>
          <a:lstStyle/>
          <a:p>
            <a:pPr marL="285750" indent="-285750">
              <a:buFont typeface="Arial" panose="020B0604020202020204" pitchFamily="34" charset="0"/>
              <a:buChar char="•"/>
            </a:pPr>
            <a:r>
              <a:rPr lang="es-MX" dirty="0"/>
              <a:t>La aplicación </a:t>
            </a:r>
            <a:r>
              <a:rPr lang="es-MX" b="1" dirty="0"/>
              <a:t>apoya directamente a los instructores</a:t>
            </a:r>
            <a:r>
              <a:rPr lang="es-MX" dirty="0"/>
              <a:t> al ofrecer un panel de seguimiento en tiempo real, lo que facilita identificar avances, dificultades, fortalezas y áreas de intervención personalizada.</a:t>
            </a:r>
            <a:endParaRPr lang="es-MX" dirty="0">
              <a:cs typeface="Arial" panose="020B0604020202020204" pitchFamily="34" charset="0"/>
            </a:endParaRPr>
          </a:p>
        </p:txBody>
      </p:sp>
    </p:spTree>
    <p:extLst>
      <p:ext uri="{BB962C8B-B14F-4D97-AF65-F5344CB8AC3E}">
        <p14:creationId xmlns:p14="http://schemas.microsoft.com/office/powerpoint/2010/main" val="1316829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4400" b="1" dirty="0">
                <a:latin typeface="+mn-lt"/>
              </a:rPr>
              <a:t>OBJETIVO GENERAL</a:t>
            </a:r>
          </a:p>
        </p:txBody>
      </p:sp>
      <p:sp>
        <p:nvSpPr>
          <p:cNvPr id="3" name="CuadroTexto 2">
            <a:extLst>
              <a:ext uri="{FF2B5EF4-FFF2-40B4-BE49-F238E27FC236}">
                <a16:creationId xmlns:a16="http://schemas.microsoft.com/office/drawing/2014/main" id="{55AC9525-6C66-8BFB-426D-EDF7A6FF52FE}"/>
              </a:ext>
            </a:extLst>
          </p:cNvPr>
          <p:cNvSpPr txBox="1"/>
          <p:nvPr/>
        </p:nvSpPr>
        <p:spPr>
          <a:xfrm>
            <a:off x="1196788" y="1524000"/>
            <a:ext cx="9775048" cy="1323439"/>
          </a:xfrm>
          <a:prstGeom prst="rect">
            <a:avLst/>
          </a:prstGeom>
          <a:noFill/>
        </p:spPr>
        <p:txBody>
          <a:bodyPr wrap="square" rtlCol="0">
            <a:spAutoFit/>
          </a:bodyPr>
          <a:lstStyle/>
          <a:p>
            <a:r>
              <a:rPr lang="es-MX" sz="2000" dirty="0"/>
              <a:t>Potenciar el dominio del inglés técnico como competencia transversal clave en el programa ADSO del SENA mediante el diseño e implementación de una aplicación interactiva, </a:t>
            </a:r>
            <a:r>
              <a:rPr lang="es-MX" sz="2000" dirty="0" err="1"/>
              <a:t>gamificada</a:t>
            </a:r>
            <a:r>
              <a:rPr lang="es-MX" sz="2000" dirty="0"/>
              <a:t> y basada en inteligencia artificial que promueva un aprendizaje inmersivo, adaptativo y contextualizado.</a:t>
            </a:r>
          </a:p>
        </p:txBody>
      </p:sp>
    </p:spTree>
    <p:extLst>
      <p:ext uri="{BB962C8B-B14F-4D97-AF65-F5344CB8AC3E}">
        <p14:creationId xmlns:p14="http://schemas.microsoft.com/office/powerpoint/2010/main" val="3083765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4400" b="1" dirty="0">
                <a:latin typeface="+mn-lt"/>
              </a:rPr>
              <a:t>OBJETIVOS ESPECÍFICOS</a:t>
            </a:r>
          </a:p>
        </p:txBody>
      </p:sp>
      <p:sp>
        <p:nvSpPr>
          <p:cNvPr id="5" name="CuadroTexto 4">
            <a:extLst>
              <a:ext uri="{FF2B5EF4-FFF2-40B4-BE49-F238E27FC236}">
                <a16:creationId xmlns:a16="http://schemas.microsoft.com/office/drawing/2014/main" id="{DD081E1D-60FE-4EBD-934B-46F73DDCF6E3}"/>
              </a:ext>
            </a:extLst>
          </p:cNvPr>
          <p:cNvSpPr txBox="1"/>
          <p:nvPr/>
        </p:nvSpPr>
        <p:spPr>
          <a:xfrm>
            <a:off x="807238" y="1386513"/>
            <a:ext cx="10164598" cy="4708981"/>
          </a:xfrm>
          <a:prstGeom prst="rect">
            <a:avLst/>
          </a:prstGeom>
          <a:noFill/>
        </p:spPr>
        <p:txBody>
          <a:bodyPr wrap="square">
            <a:spAutoFit/>
          </a:bodyPr>
          <a:lstStyle/>
          <a:p>
            <a:pPr marL="457200" indent="-457200">
              <a:buFont typeface="+mj-lt"/>
              <a:buAutoNum type="arabicPeriod"/>
            </a:pPr>
            <a:r>
              <a:rPr lang="es-MX" sz="2000" b="1" dirty="0"/>
              <a:t>Identificar</a:t>
            </a:r>
            <a:r>
              <a:rPr lang="es-MX" sz="2000" dirty="0"/>
              <a:t> el nivel de inglés técnico de los aprendices del programa ADSO mediante la aplicación de pruebas diagnósticas alineadas con el Marco Común Europeo de Referencia para las Lenguas (MCER), en los rangos A1–B1, con el fin de establecer un punto de partida preciso que permita generar rutas de aprendizaje personalizadas y coherentes con las necesidades individuales.</a:t>
            </a:r>
          </a:p>
          <a:p>
            <a:pPr marL="457200" indent="-457200">
              <a:buFont typeface="+mj-lt"/>
              <a:buAutoNum type="arabicPeriod"/>
            </a:pPr>
            <a:endParaRPr lang="es-MX" sz="2000" dirty="0"/>
          </a:p>
          <a:p>
            <a:pPr marL="457200" indent="-457200">
              <a:buFont typeface="+mj-lt"/>
              <a:buAutoNum type="arabicPeriod"/>
            </a:pPr>
            <a:r>
              <a:rPr lang="es-MX" sz="2000" b="1" dirty="0"/>
              <a:t>Diseñar</a:t>
            </a:r>
            <a:r>
              <a:rPr lang="es-MX" sz="2000" dirty="0"/>
              <a:t> actividades interactivas y módulos temáticos altamente contextualizados, integrando vocabulario especializado y estructuras de comunicación técnica aplicadas a escenarios reales del desarrollo de software, de modo que los aprendices fortalezcan sus competencias lingüísticas en contextos funcionales y auténticos del entorno ADSO.</a:t>
            </a:r>
          </a:p>
          <a:p>
            <a:pPr marL="457200" indent="-457200">
              <a:buFont typeface="+mj-lt"/>
              <a:buAutoNum type="arabicPeriod"/>
            </a:pPr>
            <a:endParaRPr lang="es-MX" sz="2000" dirty="0"/>
          </a:p>
          <a:p>
            <a:pPr marL="457200" indent="-457200">
              <a:buFont typeface="+mj-lt"/>
              <a:buAutoNum type="arabicPeriod"/>
            </a:pPr>
            <a:r>
              <a:rPr lang="es-MX" sz="2000" b="1" dirty="0"/>
              <a:t>Evaluar</a:t>
            </a:r>
            <a:r>
              <a:rPr lang="es-MX" sz="2000" dirty="0"/>
              <a:t> la mejora del proceso de aprendizaje a través de métricas de seguimiento que permitan evidenciar avances individuales, el desempeño por competencias y la efectividad pedagógica de la aplicación, garantizando así una retroalimentación continua y una toma de decisiones orientada a la optimización del proceso formativo.</a:t>
            </a:r>
          </a:p>
        </p:txBody>
      </p:sp>
    </p:spTree>
    <p:extLst>
      <p:ext uri="{BB962C8B-B14F-4D97-AF65-F5344CB8AC3E}">
        <p14:creationId xmlns:p14="http://schemas.microsoft.com/office/powerpoint/2010/main" val="4106848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4400" b="1" dirty="0">
                <a:latin typeface="+mn-lt"/>
              </a:rPr>
              <a:t>ALCANCE</a:t>
            </a:r>
          </a:p>
        </p:txBody>
      </p:sp>
      <p:sp>
        <p:nvSpPr>
          <p:cNvPr id="4" name="CuadroTexto 3">
            <a:extLst>
              <a:ext uri="{FF2B5EF4-FFF2-40B4-BE49-F238E27FC236}">
                <a16:creationId xmlns:a16="http://schemas.microsoft.com/office/drawing/2014/main" id="{3B2B84D2-6535-4453-892E-C9324D03DE8A}"/>
              </a:ext>
            </a:extLst>
          </p:cNvPr>
          <p:cNvSpPr txBox="1"/>
          <p:nvPr/>
        </p:nvSpPr>
        <p:spPr>
          <a:xfrm>
            <a:off x="807238" y="1386513"/>
            <a:ext cx="10164598" cy="3477875"/>
          </a:xfrm>
          <a:prstGeom prst="rect">
            <a:avLst/>
          </a:prstGeom>
          <a:noFill/>
        </p:spPr>
        <p:txBody>
          <a:bodyPr wrap="square">
            <a:spAutoFit/>
          </a:bodyPr>
          <a:lstStyle/>
          <a:p>
            <a:pPr marL="457200" indent="-457200">
              <a:buFont typeface="+mj-lt"/>
              <a:buAutoNum type="arabicPeriod"/>
            </a:pPr>
            <a:r>
              <a:rPr lang="es-MX" sz="2000" dirty="0"/>
              <a:t>La implementación inicial será en el programa ADSO, integrando el inglés técnico en los procesos formativos mediante una plataforma </a:t>
            </a:r>
            <a:r>
              <a:rPr lang="es-MX" sz="2000" b="1" dirty="0"/>
              <a:t>interactiva, </a:t>
            </a:r>
            <a:r>
              <a:rPr lang="es-MX" sz="2000" b="1" dirty="0" err="1"/>
              <a:t>gamificada</a:t>
            </a:r>
            <a:r>
              <a:rPr lang="es-MX" sz="2000" b="1" dirty="0"/>
              <a:t> y accesible en dispositivos móviles. </a:t>
            </a:r>
          </a:p>
          <a:p>
            <a:pPr marL="457200" indent="-457200">
              <a:buFont typeface="+mj-lt"/>
              <a:buAutoNum type="arabicPeriod"/>
            </a:pPr>
            <a:endParaRPr lang="es-MX" sz="2000" dirty="0"/>
          </a:p>
          <a:p>
            <a:pPr marL="457200" indent="-457200">
              <a:buFont typeface="+mj-lt"/>
              <a:buAutoNum type="arabicPeriod"/>
            </a:pPr>
            <a:r>
              <a:rPr lang="es-MX" sz="2000" dirty="0"/>
              <a:t>La aplicación conectará el aprendizaje con situaciones reales del desarrollo de software, fortaleciendo competencias lingüísticas aplicadas.</a:t>
            </a:r>
          </a:p>
          <a:p>
            <a:pPr marL="457200" indent="-457200">
              <a:buFont typeface="+mj-lt"/>
              <a:buAutoNum type="arabicPeriod"/>
            </a:pPr>
            <a:endParaRPr lang="es-MX" sz="2000" dirty="0"/>
          </a:p>
          <a:p>
            <a:pPr marL="457200" indent="-457200">
              <a:buFont typeface="+mj-lt"/>
              <a:buAutoNum type="arabicPeriod"/>
            </a:pPr>
            <a:r>
              <a:rPr lang="es-MX" sz="2000" dirty="0"/>
              <a:t>En etapas posteriores, la aplicación se extenderá a </a:t>
            </a:r>
            <a:r>
              <a:rPr lang="es-MX" sz="2000" b="1" dirty="0"/>
              <a:t>todos los programas de formación del SENA</a:t>
            </a:r>
            <a:r>
              <a:rPr lang="es-MX" sz="2000" dirty="0"/>
              <a:t>, dado que el inglés técnico es un componente fundamental para la empleabilidad, la competitividad laboral y el desempeño profesional de cualquier área formativa de la institución.</a:t>
            </a:r>
          </a:p>
        </p:txBody>
      </p:sp>
    </p:spTree>
    <p:extLst>
      <p:ext uri="{BB962C8B-B14F-4D97-AF65-F5344CB8AC3E}">
        <p14:creationId xmlns:p14="http://schemas.microsoft.com/office/powerpoint/2010/main" val="2136140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4400" b="1" dirty="0">
                <a:latin typeface="+mn-lt"/>
              </a:rPr>
              <a:t>ANTECEDENTES</a:t>
            </a:r>
          </a:p>
        </p:txBody>
      </p:sp>
      <p:sp>
        <p:nvSpPr>
          <p:cNvPr id="4" name="CuadroTexto 3">
            <a:extLst>
              <a:ext uri="{FF2B5EF4-FFF2-40B4-BE49-F238E27FC236}">
                <a16:creationId xmlns:a16="http://schemas.microsoft.com/office/drawing/2014/main" id="{89044C2F-1039-4DEE-9B9F-B74858500E3A}"/>
              </a:ext>
            </a:extLst>
          </p:cNvPr>
          <p:cNvSpPr txBox="1"/>
          <p:nvPr/>
        </p:nvSpPr>
        <p:spPr>
          <a:xfrm>
            <a:off x="807238" y="1134321"/>
            <a:ext cx="10164598" cy="5355312"/>
          </a:xfrm>
          <a:prstGeom prst="rect">
            <a:avLst/>
          </a:prstGeom>
          <a:noFill/>
        </p:spPr>
        <p:txBody>
          <a:bodyPr wrap="square">
            <a:spAutoFit/>
          </a:bodyPr>
          <a:lstStyle/>
          <a:p>
            <a:pPr marL="342900" indent="-342900">
              <a:buFont typeface="+mj-lt"/>
              <a:buAutoNum type="arabicPeriod"/>
            </a:pPr>
            <a:r>
              <a:rPr lang="es-MX" b="1" dirty="0"/>
              <a:t>English </a:t>
            </a:r>
            <a:r>
              <a:rPr lang="es-MX" b="1" dirty="0" err="1"/>
              <a:t>Does</a:t>
            </a:r>
            <a:r>
              <a:rPr lang="es-MX" b="1" dirty="0"/>
              <a:t> </a:t>
            </a:r>
            <a:r>
              <a:rPr lang="es-MX" b="1" dirty="0" err="1"/>
              <a:t>Work</a:t>
            </a:r>
            <a:r>
              <a:rPr lang="es-MX" b="1" dirty="0"/>
              <a:t>, </a:t>
            </a:r>
            <a:r>
              <a:rPr lang="es-MX" dirty="0"/>
              <a:t>como programa institucional del SENA, ha contribuido significativamente al fortalecimiento del inglés general en la comunidad educativa. Sin embargo, su enfoque no cubre las competencias lingüísticas especializadas que requieren los programas tecnológicos, especialmente aquellos orientados al desarrollo de software. Esta ausencia deja un vacío formativo en el dominio del inglés técnico, indispensable para el desempeño profesional en el sector TI. </a:t>
            </a:r>
          </a:p>
          <a:p>
            <a:pPr marL="342900" indent="-342900">
              <a:buFont typeface="+mj-lt"/>
              <a:buAutoNum type="arabicPeriod"/>
            </a:pPr>
            <a:endParaRPr lang="es-MX" dirty="0"/>
          </a:p>
          <a:p>
            <a:pPr marL="342900" indent="-342900">
              <a:buFont typeface="+mj-lt"/>
              <a:buAutoNum type="arabicPeriod"/>
            </a:pPr>
            <a:r>
              <a:rPr lang="es-MX" b="1" dirty="0"/>
              <a:t>Iniciativas de instructores de inglés </a:t>
            </a:r>
            <a:r>
              <a:rPr lang="es-MX" dirty="0"/>
              <a:t>han demostrado un interés creciente por integrar inteligencia artificial como apoyo pedagógico para personalizar el aprendizaje. A pesar de estos esfuerzos, las propuestas no lograron consolidarse debido a limitaciones de tiempo, falta de infraestructura tecnológica y ausencia de un marco metodológico que articulara las necesidades del programa ADSO con herramientas avanzadas de IA. Esto revela la necesidad de un proyecto institucional estructurado y sostenible.</a:t>
            </a:r>
          </a:p>
          <a:p>
            <a:pPr marL="342900" indent="-342900">
              <a:buFont typeface="+mj-lt"/>
              <a:buAutoNum type="arabicPeriod"/>
            </a:pPr>
            <a:endParaRPr lang="es-MX" dirty="0"/>
          </a:p>
          <a:p>
            <a:pPr marL="342900" indent="-342900">
              <a:buFont typeface="+mj-lt"/>
              <a:buAutoNum type="arabicPeriod"/>
            </a:pPr>
            <a:r>
              <a:rPr lang="es-MX" b="1" dirty="0"/>
              <a:t>Aplicaciones de aprendizaje de idiomas, </a:t>
            </a:r>
            <a:r>
              <a:rPr lang="es-MX" dirty="0"/>
              <a:t>aunque populares a nivel global, presentan restricciones significativas para los contextos del SENA. Su diseño, orientado a un público general, no incorpora el análisis del perfil del aprendiz técnico, ni adapta contenidos a las competencias del desarrollo de software, ni propone desafíos contextualizados según las dinámicas del sector productivo. Esta falta de pertinencia formativa evidencia la necesidad de una solución propia que conecte directamente la enseñanza del inglés técnico con las realidades y demandas del programa ADSO.</a:t>
            </a:r>
          </a:p>
        </p:txBody>
      </p:sp>
    </p:spTree>
    <p:extLst>
      <p:ext uri="{BB962C8B-B14F-4D97-AF65-F5344CB8AC3E}">
        <p14:creationId xmlns:p14="http://schemas.microsoft.com/office/powerpoint/2010/main" val="806295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b="1" dirty="0">
                <a:latin typeface="+mn-lt"/>
              </a:rPr>
              <a:t>IMPACTOS</a:t>
            </a:r>
            <a:endParaRPr lang="es-ES" sz="4400" b="1" dirty="0">
              <a:latin typeface="+mn-lt"/>
            </a:endParaRPr>
          </a:p>
        </p:txBody>
      </p:sp>
      <p:sp>
        <p:nvSpPr>
          <p:cNvPr id="5" name="CuadroTexto 4">
            <a:extLst>
              <a:ext uri="{FF2B5EF4-FFF2-40B4-BE49-F238E27FC236}">
                <a16:creationId xmlns:a16="http://schemas.microsoft.com/office/drawing/2014/main" id="{C7C6EB51-0858-46B6-B91B-3D77B859160E}"/>
              </a:ext>
            </a:extLst>
          </p:cNvPr>
          <p:cNvSpPr txBox="1"/>
          <p:nvPr/>
        </p:nvSpPr>
        <p:spPr>
          <a:xfrm>
            <a:off x="456236" y="1457051"/>
            <a:ext cx="11217604" cy="477054"/>
          </a:xfrm>
          <a:prstGeom prst="rect">
            <a:avLst/>
          </a:prstGeom>
          <a:noFill/>
        </p:spPr>
        <p:txBody>
          <a:bodyPr wrap="square" rtlCol="0">
            <a:spAutoFit/>
          </a:bodyPr>
          <a:lstStyle/>
          <a:p>
            <a:r>
              <a:rPr lang="es-MX" sz="2500" b="1" dirty="0">
                <a:cs typeface="Arial" panose="020B0604020202020204" pitchFamily="34" charset="0"/>
              </a:rPr>
              <a:t>1. Impacto académico:</a:t>
            </a:r>
            <a:endParaRPr lang="es-MX" sz="2500" dirty="0"/>
          </a:p>
        </p:txBody>
      </p:sp>
      <p:sp>
        <p:nvSpPr>
          <p:cNvPr id="6" name="CuadroTexto 5">
            <a:extLst>
              <a:ext uri="{FF2B5EF4-FFF2-40B4-BE49-F238E27FC236}">
                <a16:creationId xmlns:a16="http://schemas.microsoft.com/office/drawing/2014/main" id="{8FF0A517-1811-4177-8C98-44504C89526E}"/>
              </a:ext>
            </a:extLst>
          </p:cNvPr>
          <p:cNvSpPr txBox="1"/>
          <p:nvPr/>
        </p:nvSpPr>
        <p:spPr>
          <a:xfrm>
            <a:off x="807238" y="1923653"/>
            <a:ext cx="10164598" cy="1631216"/>
          </a:xfrm>
          <a:prstGeom prst="rect">
            <a:avLst/>
          </a:prstGeom>
          <a:noFill/>
        </p:spPr>
        <p:txBody>
          <a:bodyPr wrap="square">
            <a:spAutoFit/>
          </a:bodyPr>
          <a:lstStyle/>
          <a:p>
            <a:pPr marL="285750" indent="-285750">
              <a:buFont typeface="Arial" panose="020B0604020202020204" pitchFamily="34" charset="0"/>
              <a:buChar char="•"/>
            </a:pPr>
            <a:r>
              <a:rPr lang="es-MX" sz="2000" b="1" dirty="0"/>
              <a:t>Fortalecimiento del inglés técnico: </a:t>
            </a:r>
            <a:r>
              <a:rPr lang="es-MX" sz="2000" dirty="0"/>
              <a:t>Los aprendices desarrollan vocabulario y comunicación especializada aplicada al desarrollo de software, elevando la calidad académica del programa ADSO.</a:t>
            </a:r>
          </a:p>
          <a:p>
            <a:pPr marL="285750" indent="-285750">
              <a:buFont typeface="Arial" panose="020B0604020202020204" pitchFamily="34" charset="0"/>
              <a:buChar char="•"/>
            </a:pPr>
            <a:r>
              <a:rPr lang="es-MX" sz="2000" b="1" dirty="0"/>
              <a:t>Aprendizaje personalizado: </a:t>
            </a:r>
            <a:r>
              <a:rPr lang="es-MX" sz="2000" dirty="0"/>
              <a:t>La IA ajusta contenidos al nivel y ritmo de cada aprendiz, mejorando comprensión, motivación y resultados académicos.</a:t>
            </a:r>
          </a:p>
        </p:txBody>
      </p:sp>
      <p:sp>
        <p:nvSpPr>
          <p:cNvPr id="7" name="CuadroTexto 6">
            <a:extLst>
              <a:ext uri="{FF2B5EF4-FFF2-40B4-BE49-F238E27FC236}">
                <a16:creationId xmlns:a16="http://schemas.microsoft.com/office/drawing/2014/main" id="{5612F2D4-B2F5-41C9-B9DF-6909CB40B75C}"/>
              </a:ext>
            </a:extLst>
          </p:cNvPr>
          <p:cNvSpPr txBox="1"/>
          <p:nvPr/>
        </p:nvSpPr>
        <p:spPr>
          <a:xfrm>
            <a:off x="456236" y="3544416"/>
            <a:ext cx="11217604" cy="477054"/>
          </a:xfrm>
          <a:prstGeom prst="rect">
            <a:avLst/>
          </a:prstGeom>
          <a:noFill/>
        </p:spPr>
        <p:txBody>
          <a:bodyPr wrap="square" rtlCol="0">
            <a:spAutoFit/>
          </a:bodyPr>
          <a:lstStyle/>
          <a:p>
            <a:r>
              <a:rPr lang="es-MX" sz="2500" b="1" dirty="0">
                <a:cs typeface="Arial" panose="020B0604020202020204" pitchFamily="34" charset="0"/>
              </a:rPr>
              <a:t>2. </a:t>
            </a:r>
            <a:r>
              <a:rPr lang="es-MX" sz="2500" b="1" dirty="0"/>
              <a:t>Impacto institucional:</a:t>
            </a:r>
          </a:p>
        </p:txBody>
      </p:sp>
      <p:sp>
        <p:nvSpPr>
          <p:cNvPr id="8" name="CuadroTexto 7">
            <a:extLst>
              <a:ext uri="{FF2B5EF4-FFF2-40B4-BE49-F238E27FC236}">
                <a16:creationId xmlns:a16="http://schemas.microsoft.com/office/drawing/2014/main" id="{57A5F630-A825-44F7-9BCC-35AC33A9BEB4}"/>
              </a:ext>
            </a:extLst>
          </p:cNvPr>
          <p:cNvSpPr txBox="1"/>
          <p:nvPr/>
        </p:nvSpPr>
        <p:spPr>
          <a:xfrm>
            <a:off x="807238" y="4021470"/>
            <a:ext cx="10164598" cy="1323439"/>
          </a:xfrm>
          <a:prstGeom prst="rect">
            <a:avLst/>
          </a:prstGeom>
          <a:noFill/>
        </p:spPr>
        <p:txBody>
          <a:bodyPr wrap="square">
            <a:spAutoFit/>
          </a:bodyPr>
          <a:lstStyle/>
          <a:p>
            <a:pPr marL="285750" indent="-285750">
              <a:buFont typeface="Arial" panose="020B0604020202020204" pitchFamily="34" charset="0"/>
              <a:buChar char="•"/>
            </a:pPr>
            <a:r>
              <a:rPr lang="es-MX" sz="2000" b="1" dirty="0"/>
              <a:t>Innovación educativa en el SENA: </a:t>
            </a:r>
            <a:r>
              <a:rPr lang="es-MX" sz="2000" dirty="0"/>
              <a:t>El proyecto posiciona al SENA como líder en formación con IA, alineado con estándares internacionales de educación tecnológica.</a:t>
            </a:r>
          </a:p>
          <a:p>
            <a:pPr marL="285750" indent="-285750">
              <a:buFont typeface="Arial" panose="020B0604020202020204" pitchFamily="34" charset="0"/>
              <a:buChar char="•"/>
            </a:pPr>
            <a:r>
              <a:rPr lang="es-MX" sz="2000" b="1" dirty="0"/>
              <a:t>Apoyo estratégico al rol docente: </a:t>
            </a:r>
            <a:r>
              <a:rPr lang="es-MX" sz="2000" dirty="0"/>
              <a:t>La herramienta facilita la integración del inglés en las competencias técnicas, reduciendo carga operativa y fortaleciendo la labor pedagógica.</a:t>
            </a:r>
          </a:p>
        </p:txBody>
      </p:sp>
    </p:spTree>
    <p:extLst>
      <p:ext uri="{BB962C8B-B14F-4D97-AF65-F5344CB8AC3E}">
        <p14:creationId xmlns:p14="http://schemas.microsoft.com/office/powerpoint/2010/main" val="171740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b="1" dirty="0">
                <a:latin typeface="+mn-lt"/>
              </a:rPr>
              <a:t>IMPACTOS</a:t>
            </a:r>
            <a:endParaRPr lang="es-ES" sz="4400" b="1" dirty="0">
              <a:latin typeface="+mn-lt"/>
            </a:endParaRPr>
          </a:p>
        </p:txBody>
      </p:sp>
      <p:sp>
        <p:nvSpPr>
          <p:cNvPr id="5" name="CuadroTexto 4">
            <a:extLst>
              <a:ext uri="{FF2B5EF4-FFF2-40B4-BE49-F238E27FC236}">
                <a16:creationId xmlns:a16="http://schemas.microsoft.com/office/drawing/2014/main" id="{C7C6EB51-0858-46B6-B91B-3D77B859160E}"/>
              </a:ext>
            </a:extLst>
          </p:cNvPr>
          <p:cNvSpPr txBox="1"/>
          <p:nvPr/>
        </p:nvSpPr>
        <p:spPr>
          <a:xfrm>
            <a:off x="456236" y="1457051"/>
            <a:ext cx="11217604" cy="477054"/>
          </a:xfrm>
          <a:prstGeom prst="rect">
            <a:avLst/>
          </a:prstGeom>
          <a:noFill/>
        </p:spPr>
        <p:txBody>
          <a:bodyPr wrap="square" rtlCol="0">
            <a:spAutoFit/>
          </a:bodyPr>
          <a:lstStyle/>
          <a:p>
            <a:r>
              <a:rPr lang="es-MX" sz="2500" b="1" dirty="0">
                <a:cs typeface="Arial" panose="020B0604020202020204" pitchFamily="34" charset="0"/>
              </a:rPr>
              <a:t>1. Impacto formativo y laboral:</a:t>
            </a:r>
            <a:endParaRPr lang="es-MX" sz="2500" dirty="0"/>
          </a:p>
        </p:txBody>
      </p:sp>
      <p:sp>
        <p:nvSpPr>
          <p:cNvPr id="6" name="CuadroTexto 5">
            <a:extLst>
              <a:ext uri="{FF2B5EF4-FFF2-40B4-BE49-F238E27FC236}">
                <a16:creationId xmlns:a16="http://schemas.microsoft.com/office/drawing/2014/main" id="{8FF0A517-1811-4177-8C98-44504C89526E}"/>
              </a:ext>
            </a:extLst>
          </p:cNvPr>
          <p:cNvSpPr txBox="1"/>
          <p:nvPr/>
        </p:nvSpPr>
        <p:spPr>
          <a:xfrm>
            <a:off x="807238" y="1923653"/>
            <a:ext cx="10164598" cy="1631216"/>
          </a:xfrm>
          <a:prstGeom prst="rect">
            <a:avLst/>
          </a:prstGeom>
          <a:noFill/>
        </p:spPr>
        <p:txBody>
          <a:bodyPr wrap="square">
            <a:spAutoFit/>
          </a:bodyPr>
          <a:lstStyle/>
          <a:p>
            <a:pPr marL="342900" indent="-342900">
              <a:buFont typeface="Arial" panose="020B0604020202020204" pitchFamily="34" charset="0"/>
              <a:buChar char="•"/>
            </a:pPr>
            <a:r>
              <a:rPr lang="es-MX" sz="2000" b="1" dirty="0"/>
              <a:t>Aumento de la empleabilidad: </a:t>
            </a:r>
            <a:r>
              <a:rPr lang="es-MX" sz="2000" dirty="0"/>
              <a:t>El dominio del inglés técnico abre oportunidades laborales mejor remuneradas y demandadas por el sector TI.</a:t>
            </a:r>
          </a:p>
          <a:p>
            <a:pPr marL="342900" indent="-342900">
              <a:buFont typeface="Arial" panose="020B0604020202020204" pitchFamily="34" charset="0"/>
              <a:buChar char="•"/>
            </a:pPr>
            <a:r>
              <a:rPr lang="es-MX" sz="2000" b="1" dirty="0"/>
              <a:t>Preparación para entornos globales: </a:t>
            </a:r>
            <a:r>
              <a:rPr lang="es-MX" sz="2000" dirty="0"/>
              <a:t>Los aprendices adquieren habilidades para trabajar con documentación, herramientas y equipos que operan en inglés dentro de la industria tecnológica.</a:t>
            </a:r>
          </a:p>
        </p:txBody>
      </p:sp>
      <p:sp>
        <p:nvSpPr>
          <p:cNvPr id="7" name="CuadroTexto 6">
            <a:extLst>
              <a:ext uri="{FF2B5EF4-FFF2-40B4-BE49-F238E27FC236}">
                <a16:creationId xmlns:a16="http://schemas.microsoft.com/office/drawing/2014/main" id="{5612F2D4-B2F5-41C9-B9DF-6909CB40B75C}"/>
              </a:ext>
            </a:extLst>
          </p:cNvPr>
          <p:cNvSpPr txBox="1"/>
          <p:nvPr/>
        </p:nvSpPr>
        <p:spPr>
          <a:xfrm>
            <a:off x="456236" y="3544416"/>
            <a:ext cx="11217604" cy="477054"/>
          </a:xfrm>
          <a:prstGeom prst="rect">
            <a:avLst/>
          </a:prstGeom>
          <a:noFill/>
        </p:spPr>
        <p:txBody>
          <a:bodyPr wrap="square" rtlCol="0">
            <a:spAutoFit/>
          </a:bodyPr>
          <a:lstStyle/>
          <a:p>
            <a:r>
              <a:rPr lang="es-MX" sz="2500" b="1" dirty="0">
                <a:cs typeface="Arial" panose="020B0604020202020204" pitchFamily="34" charset="0"/>
              </a:rPr>
              <a:t>2. </a:t>
            </a:r>
            <a:r>
              <a:rPr lang="es-MX" sz="2500" b="1" dirty="0"/>
              <a:t>Impacto tecnológico:</a:t>
            </a:r>
          </a:p>
        </p:txBody>
      </p:sp>
      <p:sp>
        <p:nvSpPr>
          <p:cNvPr id="8" name="CuadroTexto 7">
            <a:extLst>
              <a:ext uri="{FF2B5EF4-FFF2-40B4-BE49-F238E27FC236}">
                <a16:creationId xmlns:a16="http://schemas.microsoft.com/office/drawing/2014/main" id="{57A5F630-A825-44F7-9BCC-35AC33A9BEB4}"/>
              </a:ext>
            </a:extLst>
          </p:cNvPr>
          <p:cNvSpPr txBox="1"/>
          <p:nvPr/>
        </p:nvSpPr>
        <p:spPr>
          <a:xfrm>
            <a:off x="807238" y="4021470"/>
            <a:ext cx="10164598" cy="1938992"/>
          </a:xfrm>
          <a:prstGeom prst="rect">
            <a:avLst/>
          </a:prstGeom>
          <a:noFill/>
        </p:spPr>
        <p:txBody>
          <a:bodyPr wrap="square">
            <a:spAutoFit/>
          </a:bodyPr>
          <a:lstStyle/>
          <a:p>
            <a:pPr marL="342900" indent="-342900">
              <a:buFont typeface="Arial" panose="020B0604020202020204" pitchFamily="34" charset="0"/>
              <a:buChar char="•"/>
            </a:pPr>
            <a:r>
              <a:rPr lang="es-MX" sz="2000" b="1" dirty="0"/>
              <a:t>Incorporación de IA en la formación profesional: </a:t>
            </a:r>
            <a:r>
              <a:rPr lang="es-MX" sz="2000" dirty="0" err="1"/>
              <a:t>SENALingua</a:t>
            </a:r>
            <a:r>
              <a:rPr lang="es-MX" sz="2000" dirty="0"/>
              <a:t> introduce análisis automatizados, seguimiento inteligente y generación adaptativa de contenidos dentro del SENA.</a:t>
            </a:r>
          </a:p>
          <a:p>
            <a:pPr marL="342900" indent="-342900">
              <a:buFont typeface="Arial" panose="020B0604020202020204" pitchFamily="34" charset="0"/>
              <a:buChar char="•"/>
            </a:pPr>
            <a:r>
              <a:rPr lang="es-MX" sz="2000" b="1" dirty="0"/>
              <a:t>Plataforma escalable para toda la institución: </a:t>
            </a:r>
            <a:r>
              <a:rPr lang="es-MX" sz="2000" dirty="0"/>
              <a:t>La solución podrá ampliarse a todos los programas de formación, respondiendo a necesidades técnicas y lingüísticas de diferentes sectores productivos.</a:t>
            </a:r>
          </a:p>
        </p:txBody>
      </p:sp>
    </p:spTree>
    <p:extLst>
      <p:ext uri="{BB962C8B-B14F-4D97-AF65-F5344CB8AC3E}">
        <p14:creationId xmlns:p14="http://schemas.microsoft.com/office/powerpoint/2010/main" val="3813407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4400" b="1" dirty="0">
                <a:latin typeface="+mn-lt"/>
              </a:rPr>
              <a:t>FUNCIONALIDADES</a:t>
            </a:r>
          </a:p>
        </p:txBody>
      </p:sp>
      <p:sp>
        <p:nvSpPr>
          <p:cNvPr id="4" name="CuadroTexto 3">
            <a:extLst>
              <a:ext uri="{FF2B5EF4-FFF2-40B4-BE49-F238E27FC236}">
                <a16:creationId xmlns:a16="http://schemas.microsoft.com/office/drawing/2014/main" id="{9D051337-CA3E-44FA-9F3B-F255F5366E3F}"/>
              </a:ext>
            </a:extLst>
          </p:cNvPr>
          <p:cNvSpPr txBox="1"/>
          <p:nvPr/>
        </p:nvSpPr>
        <p:spPr>
          <a:xfrm>
            <a:off x="807238" y="1351508"/>
            <a:ext cx="10164598" cy="4154984"/>
          </a:xfrm>
          <a:prstGeom prst="rect">
            <a:avLst/>
          </a:prstGeom>
          <a:noFill/>
        </p:spPr>
        <p:txBody>
          <a:bodyPr wrap="square">
            <a:spAutoFit/>
          </a:bodyPr>
          <a:lstStyle/>
          <a:p>
            <a:pPr marL="457200" indent="-457200">
              <a:buFont typeface="+mj-lt"/>
              <a:buAutoNum type="arabicPeriod"/>
            </a:pPr>
            <a:r>
              <a:rPr lang="es-CO" sz="2200" b="1" dirty="0"/>
              <a:t>Aprendizaje contextualizado: </a:t>
            </a:r>
            <a:r>
              <a:rPr lang="es-CO" sz="2200" dirty="0"/>
              <a:t>módulos como English </a:t>
            </a:r>
            <a:r>
              <a:rPr lang="es-CO" sz="2200" dirty="0" err="1"/>
              <a:t>for</a:t>
            </a:r>
            <a:r>
              <a:rPr lang="es-CO" sz="2200" dirty="0"/>
              <a:t> </a:t>
            </a:r>
            <a:r>
              <a:rPr lang="es-CO" sz="2200" dirty="0" err="1"/>
              <a:t>Frontend</a:t>
            </a:r>
            <a:r>
              <a:rPr lang="es-CO" sz="2200" dirty="0"/>
              <a:t>, </a:t>
            </a:r>
            <a:r>
              <a:rPr lang="es-CO" sz="2200" dirty="0" err="1"/>
              <a:t>Understanding</a:t>
            </a:r>
            <a:r>
              <a:rPr lang="es-CO" sz="2200" dirty="0"/>
              <a:t> </a:t>
            </a:r>
            <a:r>
              <a:rPr lang="es-CO" sz="2200" dirty="0" err="1"/>
              <a:t>APIs</a:t>
            </a:r>
            <a:r>
              <a:rPr lang="es-CO" sz="2200" dirty="0"/>
              <a:t>, </a:t>
            </a:r>
            <a:r>
              <a:rPr lang="es-CO" sz="2200" dirty="0" err="1"/>
              <a:t>Tech</a:t>
            </a:r>
            <a:r>
              <a:rPr lang="es-CO" sz="2200" dirty="0"/>
              <a:t> </a:t>
            </a:r>
            <a:r>
              <a:rPr lang="es-CO" sz="2200" dirty="0" err="1"/>
              <a:t>Vocabulary</a:t>
            </a:r>
            <a:r>
              <a:rPr lang="es-CO" sz="2200" dirty="0"/>
              <a:t> </a:t>
            </a:r>
            <a:r>
              <a:rPr lang="es-CO" sz="2200" dirty="0" err="1"/>
              <a:t>for</a:t>
            </a:r>
            <a:r>
              <a:rPr lang="es-CO" sz="2200" dirty="0"/>
              <a:t> </a:t>
            </a:r>
            <a:r>
              <a:rPr lang="es-CO" sz="2200" dirty="0" err="1"/>
              <a:t>Developers</a:t>
            </a:r>
            <a:r>
              <a:rPr lang="es-CO" sz="2200" dirty="0"/>
              <a:t>, basados en situaciones reales del entorno ADSO.</a:t>
            </a:r>
          </a:p>
          <a:p>
            <a:pPr marL="457200" indent="-457200">
              <a:buFont typeface="+mj-lt"/>
              <a:buAutoNum type="arabicPeriod"/>
            </a:pPr>
            <a:endParaRPr lang="es-CO" sz="2200" dirty="0"/>
          </a:p>
          <a:p>
            <a:pPr marL="457200" indent="-457200">
              <a:buFont typeface="+mj-lt"/>
              <a:buAutoNum type="arabicPeriod"/>
            </a:pPr>
            <a:r>
              <a:rPr lang="es-MX" sz="2200" b="1" dirty="0"/>
              <a:t>Retos interactivos: </a:t>
            </a:r>
            <a:r>
              <a:rPr lang="es-MX" sz="2200" dirty="0"/>
              <a:t>desafíos inspirados en documentación técnica, repositorios, errores de código, historias de usuario y escenarios del sector TI.</a:t>
            </a:r>
          </a:p>
          <a:p>
            <a:pPr marL="457200" indent="-457200">
              <a:buFont typeface="+mj-lt"/>
              <a:buAutoNum type="arabicPeriod"/>
            </a:pPr>
            <a:endParaRPr lang="es-MX" sz="2200" dirty="0"/>
          </a:p>
          <a:p>
            <a:pPr marL="457200" indent="-457200">
              <a:buFont typeface="+mj-lt"/>
              <a:buAutoNum type="arabicPeriod"/>
            </a:pPr>
            <a:r>
              <a:rPr lang="es-MX" sz="2200" b="1" dirty="0"/>
              <a:t>Gamificación: </a:t>
            </a:r>
            <a:r>
              <a:rPr lang="es-MX" sz="2200" dirty="0"/>
              <a:t>niveles, insignias, misiones, recompensas y rachas para potenciar la motivación continua.</a:t>
            </a:r>
          </a:p>
          <a:p>
            <a:pPr marL="457200" indent="-457200">
              <a:buFont typeface="+mj-lt"/>
              <a:buAutoNum type="arabicPeriod"/>
            </a:pPr>
            <a:endParaRPr lang="es-MX" sz="2200" dirty="0"/>
          </a:p>
          <a:p>
            <a:pPr marL="457200" indent="-457200">
              <a:buFont typeface="+mj-lt"/>
              <a:buAutoNum type="arabicPeriod"/>
            </a:pPr>
            <a:r>
              <a:rPr lang="es-MX" sz="2200" b="1" dirty="0"/>
              <a:t>Panel de instructores: </a:t>
            </a:r>
            <a:r>
              <a:rPr lang="es-MX" sz="2200" dirty="0"/>
              <a:t>monitoreo en tiempo real, analítica de progreso, identificación de brechas y retroalimentación personalizada generada por IA.</a:t>
            </a:r>
          </a:p>
        </p:txBody>
      </p:sp>
    </p:spTree>
    <p:extLst>
      <p:ext uri="{BB962C8B-B14F-4D97-AF65-F5344CB8AC3E}">
        <p14:creationId xmlns:p14="http://schemas.microsoft.com/office/powerpoint/2010/main" val="915424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3474</TotalTime>
  <Words>1228</Words>
  <Application>Microsoft Office PowerPoint</Application>
  <PresentationFormat>Panorámica</PresentationFormat>
  <Paragraphs>84</Paragraphs>
  <Slides>13</Slides>
  <Notes>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Work Sans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USUARIO</cp:lastModifiedBy>
  <cp:revision>49</cp:revision>
  <dcterms:created xsi:type="dcterms:W3CDTF">2020-10-01T23:51:28Z</dcterms:created>
  <dcterms:modified xsi:type="dcterms:W3CDTF">2025-11-18T03:14:56Z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