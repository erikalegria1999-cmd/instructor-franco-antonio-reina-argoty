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79" r:id="rId22"/>
    <p:sldId id="280" r:id="rId23"/>
    <p:sldId id="281" r:id="rId24"/>
    <p:sldId id="282" r:id="rId25"/>
    <p:sldId id="283" r:id="rId26"/>
    <p:sldId id="400" r:id="rId27"/>
    <p:sldId id="284" r:id="rId28"/>
    <p:sldId id="285" r:id="rId29"/>
    <p:sldId id="287" r:id="rId30"/>
    <p:sldId id="288" r:id="rId31"/>
    <p:sldId id="289" r:id="rId32"/>
    <p:sldId id="293" r:id="rId33"/>
    <p:sldId id="294" r:id="rId34"/>
    <p:sldId id="318" r:id="rId35"/>
    <p:sldId id="319" r:id="rId36"/>
    <p:sldId id="320" r:id="rId37"/>
    <p:sldId id="321" r:id="rId38"/>
    <p:sldId id="322" r:id="rId39"/>
    <p:sldId id="333" r:id="rId40"/>
    <p:sldId id="323" r:id="rId41"/>
    <p:sldId id="324" r:id="rId42"/>
    <p:sldId id="325" r:id="rId43"/>
    <p:sldId id="296" r:id="rId44"/>
    <p:sldId id="297" r:id="rId45"/>
    <p:sldId id="302" r:id="rId46"/>
    <p:sldId id="303" r:id="rId47"/>
    <p:sldId id="304" r:id="rId48"/>
    <p:sldId id="305" r:id="rId49"/>
    <p:sldId id="326" r:id="rId50"/>
    <p:sldId id="327" r:id="rId51"/>
    <p:sldId id="328" r:id="rId52"/>
    <p:sldId id="329" r:id="rId53"/>
    <p:sldId id="330" r:id="rId54"/>
    <p:sldId id="331" r:id="rId55"/>
    <p:sldId id="358" r:id="rId56"/>
    <p:sldId id="332" r:id="rId57"/>
    <p:sldId id="335" r:id="rId58"/>
    <p:sldId id="336" r:id="rId59"/>
    <p:sldId id="337" r:id="rId60"/>
    <p:sldId id="338" r:id="rId61"/>
    <p:sldId id="339" r:id="rId62"/>
    <p:sldId id="342" r:id="rId63"/>
    <p:sldId id="343" r:id="rId64"/>
    <p:sldId id="344" r:id="rId65"/>
    <p:sldId id="345" r:id="rId66"/>
    <p:sldId id="347" r:id="rId67"/>
    <p:sldId id="348" r:id="rId68"/>
    <p:sldId id="349" r:id="rId69"/>
    <p:sldId id="352" r:id="rId70"/>
    <p:sldId id="312" r:id="rId71"/>
    <p:sldId id="313" r:id="rId72"/>
    <p:sldId id="314" r:id="rId73"/>
    <p:sldId id="315" r:id="rId74"/>
    <p:sldId id="316" r:id="rId75"/>
    <p:sldId id="317" r:id="rId76"/>
    <p:sldId id="356" r:id="rId77"/>
    <p:sldId id="357" r:id="rId78"/>
    <p:sldId id="359" r:id="rId79"/>
    <p:sldId id="360" r:id="rId80"/>
    <p:sldId id="361" r:id="rId81"/>
    <p:sldId id="362" r:id="rId82"/>
    <p:sldId id="363" r:id="rId83"/>
    <p:sldId id="364" r:id="rId84"/>
    <p:sldId id="365" r:id="rId85"/>
    <p:sldId id="366" r:id="rId86"/>
    <p:sldId id="370" r:id="rId87"/>
    <p:sldId id="371" r:id="rId88"/>
    <p:sldId id="372" r:id="rId89"/>
    <p:sldId id="373" r:id="rId90"/>
    <p:sldId id="374" r:id="rId91"/>
    <p:sldId id="375" r:id="rId92"/>
    <p:sldId id="376" r:id="rId93"/>
    <p:sldId id="377" r:id="rId94"/>
    <p:sldId id="378" r:id="rId95"/>
    <p:sldId id="379" r:id="rId96"/>
    <p:sldId id="380" r:id="rId97"/>
    <p:sldId id="381" r:id="rId98"/>
    <p:sldId id="382" r:id="rId99"/>
    <p:sldId id="383" r:id="rId100"/>
    <p:sldId id="384" r:id="rId101"/>
    <p:sldId id="385" r:id="rId102"/>
    <p:sldId id="386" r:id="rId103"/>
    <p:sldId id="387" r:id="rId104"/>
    <p:sldId id="390" r:id="rId105"/>
    <p:sldId id="391" r:id="rId106"/>
    <p:sldId id="392" r:id="rId107"/>
    <p:sldId id="393" r:id="rId108"/>
    <p:sldId id="394" r:id="rId109"/>
    <p:sldId id="395" r:id="rId110"/>
    <p:sldId id="396" r:id="rId111"/>
    <p:sldId id="397" r:id="rId112"/>
    <p:sldId id="398" r:id="rId113"/>
    <p:sldId id="399" r:id="rId1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81995" autoAdjust="0"/>
  </p:normalViewPr>
  <p:slideViewPr>
    <p:cSldViewPr snapToGrid="0">
      <p:cViewPr varScale="1">
        <p:scale>
          <a:sx n="61" d="100"/>
          <a:sy n="61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 /><Relationship Id="rId117" Type="http://schemas.openxmlformats.org/officeDocument/2006/relationships/viewProps" Target="viewProps.xml" /><Relationship Id="rId21" Type="http://schemas.openxmlformats.org/officeDocument/2006/relationships/slide" Target="slides/slide20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84" Type="http://schemas.openxmlformats.org/officeDocument/2006/relationships/slide" Target="slides/slide83.xml" /><Relationship Id="rId89" Type="http://schemas.openxmlformats.org/officeDocument/2006/relationships/slide" Target="slides/slide88.xml" /><Relationship Id="rId112" Type="http://schemas.openxmlformats.org/officeDocument/2006/relationships/slide" Target="slides/slide111.xml" /><Relationship Id="rId16" Type="http://schemas.openxmlformats.org/officeDocument/2006/relationships/slide" Target="slides/slide15.xml" /><Relationship Id="rId107" Type="http://schemas.openxmlformats.org/officeDocument/2006/relationships/slide" Target="slides/slide106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slide" Target="slides/slide73.xml" /><Relationship Id="rId79" Type="http://schemas.openxmlformats.org/officeDocument/2006/relationships/slide" Target="slides/slide78.xml" /><Relationship Id="rId87" Type="http://schemas.openxmlformats.org/officeDocument/2006/relationships/slide" Target="slides/slide86.xml" /><Relationship Id="rId102" Type="http://schemas.openxmlformats.org/officeDocument/2006/relationships/slide" Target="slides/slide101.xml" /><Relationship Id="rId110" Type="http://schemas.openxmlformats.org/officeDocument/2006/relationships/slide" Target="slides/slide109.xml" /><Relationship Id="rId115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82" Type="http://schemas.openxmlformats.org/officeDocument/2006/relationships/slide" Target="slides/slide81.xml" /><Relationship Id="rId90" Type="http://schemas.openxmlformats.org/officeDocument/2006/relationships/slide" Target="slides/slide89.xml" /><Relationship Id="rId95" Type="http://schemas.openxmlformats.org/officeDocument/2006/relationships/slide" Target="slides/slide94.xml" /><Relationship Id="rId19" Type="http://schemas.openxmlformats.org/officeDocument/2006/relationships/slide" Target="slides/slide1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slide" Target="slides/slide76.xml" /><Relationship Id="rId100" Type="http://schemas.openxmlformats.org/officeDocument/2006/relationships/slide" Target="slides/slide99.xml" /><Relationship Id="rId105" Type="http://schemas.openxmlformats.org/officeDocument/2006/relationships/slide" Target="slides/slide104.xml" /><Relationship Id="rId113" Type="http://schemas.openxmlformats.org/officeDocument/2006/relationships/slide" Target="slides/slide112.xml" /><Relationship Id="rId118" Type="http://schemas.openxmlformats.org/officeDocument/2006/relationships/theme" Target="theme/theme1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slide" Target="slides/slide79.xml" /><Relationship Id="rId85" Type="http://schemas.openxmlformats.org/officeDocument/2006/relationships/slide" Target="slides/slide84.xml" /><Relationship Id="rId93" Type="http://schemas.openxmlformats.org/officeDocument/2006/relationships/slide" Target="slides/slide92.xml" /><Relationship Id="rId98" Type="http://schemas.openxmlformats.org/officeDocument/2006/relationships/slide" Target="slides/slide97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103" Type="http://schemas.openxmlformats.org/officeDocument/2006/relationships/slide" Target="slides/slide102.xml" /><Relationship Id="rId108" Type="http://schemas.openxmlformats.org/officeDocument/2006/relationships/slide" Target="slides/slide107.xml" /><Relationship Id="rId116" Type="http://schemas.openxmlformats.org/officeDocument/2006/relationships/presProps" Target="presProps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slide" Target="slides/slide74.xml" /><Relationship Id="rId83" Type="http://schemas.openxmlformats.org/officeDocument/2006/relationships/slide" Target="slides/slide82.xml" /><Relationship Id="rId88" Type="http://schemas.openxmlformats.org/officeDocument/2006/relationships/slide" Target="slides/slide87.xml" /><Relationship Id="rId91" Type="http://schemas.openxmlformats.org/officeDocument/2006/relationships/slide" Target="slides/slide90.xml" /><Relationship Id="rId96" Type="http://schemas.openxmlformats.org/officeDocument/2006/relationships/slide" Target="slides/slide95.xml" /><Relationship Id="rId111" Type="http://schemas.openxmlformats.org/officeDocument/2006/relationships/slide" Target="slides/slide11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106" Type="http://schemas.openxmlformats.org/officeDocument/2006/relationships/slide" Target="slides/slide105.xml" /><Relationship Id="rId114" Type="http://schemas.openxmlformats.org/officeDocument/2006/relationships/slide" Target="slides/slide113.xml" /><Relationship Id="rId119" Type="http://schemas.openxmlformats.org/officeDocument/2006/relationships/tableStyles" Target="tableStyles.xml" /><Relationship Id="rId10" Type="http://schemas.openxmlformats.org/officeDocument/2006/relationships/slide" Target="slides/slide9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slide" Target="slides/slide77.xml" /><Relationship Id="rId81" Type="http://schemas.openxmlformats.org/officeDocument/2006/relationships/slide" Target="slides/slide80.xml" /><Relationship Id="rId86" Type="http://schemas.openxmlformats.org/officeDocument/2006/relationships/slide" Target="slides/slide85.xml" /><Relationship Id="rId94" Type="http://schemas.openxmlformats.org/officeDocument/2006/relationships/slide" Target="slides/slide93.xml" /><Relationship Id="rId99" Type="http://schemas.openxmlformats.org/officeDocument/2006/relationships/slide" Target="slides/slide98.xml" /><Relationship Id="rId101" Type="http://schemas.openxmlformats.org/officeDocument/2006/relationships/slide" Target="slides/slide10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9" Type="http://schemas.openxmlformats.org/officeDocument/2006/relationships/slide" Target="slides/slide38.xml" /><Relationship Id="rId109" Type="http://schemas.openxmlformats.org/officeDocument/2006/relationships/slide" Target="slides/slide108.xml" /><Relationship Id="rId34" Type="http://schemas.openxmlformats.org/officeDocument/2006/relationships/slide" Target="slides/slide33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76" Type="http://schemas.openxmlformats.org/officeDocument/2006/relationships/slide" Target="slides/slide75.xml" /><Relationship Id="rId97" Type="http://schemas.openxmlformats.org/officeDocument/2006/relationships/slide" Target="slides/slide96.xml" /><Relationship Id="rId104" Type="http://schemas.openxmlformats.org/officeDocument/2006/relationships/slide" Target="slides/slide103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92" Type="http://schemas.openxmlformats.org/officeDocument/2006/relationships/slide" Target="slides/slide91.xml" /><Relationship Id="rId2" Type="http://schemas.openxmlformats.org/officeDocument/2006/relationships/slide" Target="slides/slide1.xml" /><Relationship Id="rId29" Type="http://schemas.openxmlformats.org/officeDocument/2006/relationships/slide" Target="slides/slide2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35E28-6CEC-40C6-A905-4E627134C11A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FE621-FEB1-4BEE-A60F-298C4CD038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061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Scrum es un marco de trabajo ágil basado en </a:t>
            </a:r>
            <a:r>
              <a:rPr lang="es-CO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iteraciones llamadas </a:t>
            </a:r>
            <a:r>
              <a:rPr lang="es-CO" sz="1800" b="1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Sprints</a:t>
            </a:r>
            <a:r>
              <a:rPr lang="es-CO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(normalmente de 2-4 semanas), con entregas incrementales del producto. Se centra en la </a:t>
            </a:r>
            <a:r>
              <a:rPr lang="es-CO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autoorganización del equipo y la transparencia</a:t>
            </a:r>
            <a:r>
              <a:rPr lang="es-CO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​</a:t>
            </a:r>
            <a:endParaRPr lang="es-CO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6373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Adaptable: Podemos incorporar cambios de manera flexible, porque los usuarios tienen conocimiento de lo que quieren pero se van haciendo mas claros  a medida que avanza el proyecto.  Así el proyecto incorpora cambios y se refina con un marco adaptable</a:t>
            </a:r>
          </a:p>
          <a:p>
            <a:r>
              <a:rPr lang="es-ES" dirty="0"/>
              <a:t>Transparencia: La información esta compartida con todo el equipo de trabajo con el tablero scrum</a:t>
            </a:r>
          </a:p>
          <a:p>
            <a:r>
              <a:rPr lang="es-ES" dirty="0"/>
              <a:t>Retroalimentación: Adaptarse a los nuevos cambios del cliente va pidiendo, las reuniones como </a:t>
            </a:r>
            <a:r>
              <a:rPr lang="es-ES" dirty="0" err="1"/>
              <a:t>Daily</a:t>
            </a:r>
            <a:r>
              <a:rPr lang="es-ES" dirty="0"/>
              <a:t> </a:t>
            </a:r>
            <a:r>
              <a:rPr lang="es-ES" dirty="0" err="1"/>
              <a:t>standup</a:t>
            </a:r>
            <a:r>
              <a:rPr lang="es-ES" dirty="0"/>
              <a:t> </a:t>
            </a:r>
          </a:p>
          <a:p>
            <a:r>
              <a:rPr lang="es-ES" dirty="0"/>
              <a:t>Mejora continua: A través de la retrospectiva se refina el </a:t>
            </a:r>
            <a:r>
              <a:rPr lang="es-ES" dirty="0" err="1"/>
              <a:t>BackLog</a:t>
            </a:r>
            <a:endParaRPr lang="es-ES" dirty="0"/>
          </a:p>
          <a:p>
            <a:r>
              <a:rPr lang="es-ES" dirty="0"/>
              <a:t>Entrega continua de valor: Es un proceso interactivo, desde el primer </a:t>
            </a:r>
            <a:r>
              <a:rPr lang="es-ES" dirty="0" err="1"/>
              <a:t>spring</a:t>
            </a:r>
            <a:r>
              <a:rPr lang="es-ES" dirty="0"/>
              <a:t> se entrega valor de forma progresiva</a:t>
            </a:r>
          </a:p>
          <a:p>
            <a:r>
              <a:rPr lang="es-ES" dirty="0"/>
              <a:t>Entrega anticipada de valor:  Al priorizar los requerimientos de mayor valor ya que se prioriza cuales son los principales requerimientos a realizar</a:t>
            </a:r>
          </a:p>
          <a:p>
            <a:r>
              <a:rPr lang="es-ES" dirty="0"/>
              <a:t>Proceso de desarrollo eficiente: Time-</a:t>
            </a:r>
            <a:r>
              <a:rPr lang="es-ES" dirty="0" err="1"/>
              <a:t>Boxing</a:t>
            </a:r>
            <a:r>
              <a:rPr lang="es-ES" dirty="0"/>
              <a:t> (tiempo fijo definido para cada tarea o actividad)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7359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Resolución de problemas: Scrum Master ayuda a resolver los problemas o impedimentos, ayudar a la baja fricción entre colaboradores</a:t>
            </a:r>
          </a:p>
          <a:p>
            <a:r>
              <a:rPr lang="es-ES" dirty="0"/>
              <a:t>Entregables efectivos: Gracias a las entregas progresivas y priorizadas el cliente percibe avance en los entregables 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5375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imagen muestra la estructura del </a:t>
            </a:r>
            <a:r>
              <a:rPr lang="es-ES" b="1" dirty="0"/>
              <a:t>Equipo Central de Scrum</a:t>
            </a:r>
            <a:r>
              <a:rPr lang="es-ES" dirty="0"/>
              <a:t> y cómo interactúan sus diferentes roles dentro del proceso de desarrollo ágil.</a:t>
            </a:r>
          </a:p>
          <a:p>
            <a:endParaRPr lang="es-ES" dirty="0"/>
          </a:p>
          <a:p>
            <a:r>
              <a:rPr lang="es-ES" dirty="0"/>
              <a:t>Scrum se basa en la comunicación y colaboración entre distintos roles para asegurar la entrega de un producto funcional en ciclos iterativos llamados </a:t>
            </a:r>
            <a:r>
              <a:rPr lang="es-ES" b="1" dirty="0" err="1"/>
              <a:t>Sprints</a:t>
            </a:r>
            <a:r>
              <a:rPr lang="es-ES" dirty="0"/>
              <a:t>. La imagen representa el flujo de información y responsabilidades entre </a:t>
            </a:r>
            <a:r>
              <a:rPr lang="es-ES" b="1" dirty="0"/>
              <a:t>Cliente/</a:t>
            </a:r>
            <a:r>
              <a:rPr lang="es-ES" b="1" dirty="0" err="1"/>
              <a:t>Stakeholder</a:t>
            </a:r>
            <a:r>
              <a:rPr lang="es-ES" b="1" dirty="0"/>
              <a:t>, </a:t>
            </a:r>
            <a:r>
              <a:rPr lang="es-ES" b="1" dirty="0" err="1"/>
              <a:t>Product</a:t>
            </a:r>
            <a:r>
              <a:rPr lang="es-ES" b="1" dirty="0"/>
              <a:t> </a:t>
            </a:r>
            <a:r>
              <a:rPr lang="es-ES" b="1" dirty="0" err="1"/>
              <a:t>Owner</a:t>
            </a:r>
            <a:r>
              <a:rPr lang="es-ES" b="1" dirty="0"/>
              <a:t>, Scrum Master y el Equipo Scrum</a:t>
            </a:r>
            <a:r>
              <a:rPr lang="es-ES" dirty="0"/>
              <a:t>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9770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Cliente / </a:t>
            </a:r>
            <a:r>
              <a:rPr lang="es-ES" b="1" dirty="0" err="1"/>
              <a:t>Stakeholder</a:t>
            </a:r>
            <a:r>
              <a:rPr lang="es-ES" b="1" dirty="0"/>
              <a:t> → </a:t>
            </a:r>
            <a:r>
              <a:rPr lang="es-ES" b="1" dirty="0" err="1"/>
              <a:t>Product</a:t>
            </a:r>
            <a:r>
              <a:rPr lang="es-ES" b="1" dirty="0"/>
              <a:t> </a:t>
            </a:r>
            <a:r>
              <a:rPr lang="es-ES" b="1" dirty="0" err="1"/>
              <a:t>Owner</a:t>
            </a: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</a:t>
            </a:r>
            <a:r>
              <a:rPr lang="es-ES" b="1" dirty="0"/>
              <a:t>Cliente o </a:t>
            </a:r>
            <a:r>
              <a:rPr lang="es-ES" b="1" dirty="0" err="1"/>
              <a:t>Stakeholder</a:t>
            </a:r>
            <a:r>
              <a:rPr lang="es-ES" dirty="0"/>
              <a:t> (interesado en el producto) proporciona los </a:t>
            </a:r>
            <a:r>
              <a:rPr lang="es-ES" b="1" dirty="0"/>
              <a:t>requerimientos</a:t>
            </a:r>
            <a:r>
              <a:rPr lang="es-ES" dirty="0"/>
              <a:t> del negocio o producto al </a:t>
            </a:r>
            <a:r>
              <a:rPr lang="es-ES" b="1" dirty="0" err="1"/>
              <a:t>Product</a:t>
            </a:r>
            <a:r>
              <a:rPr lang="es-ES" b="1" dirty="0"/>
              <a:t> </a:t>
            </a:r>
            <a:r>
              <a:rPr lang="es-ES" b="1" dirty="0" err="1"/>
              <a:t>Owner</a:t>
            </a:r>
            <a:r>
              <a:rPr lang="es-ES" b="1" dirty="0"/>
              <a:t> (PO)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</a:t>
            </a:r>
            <a:r>
              <a:rPr lang="es-ES" b="1" dirty="0" err="1"/>
              <a:t>Product</a:t>
            </a:r>
            <a:r>
              <a:rPr lang="es-ES" b="1" dirty="0"/>
              <a:t> </a:t>
            </a:r>
            <a:r>
              <a:rPr lang="es-ES" b="1" dirty="0" err="1"/>
              <a:t>Owner</a:t>
            </a:r>
            <a:r>
              <a:rPr lang="es-ES" dirty="0"/>
              <a:t> actúa como </a:t>
            </a:r>
            <a:r>
              <a:rPr lang="es-ES" b="1" dirty="0"/>
              <a:t>"la voz del cliente"</a:t>
            </a:r>
            <a:r>
              <a:rPr lang="es-ES" dirty="0"/>
              <a:t> y es responsable de traducir estos requerimientos en elementos claros para el equipo.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9523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 err="1"/>
              <a:t>Product</a:t>
            </a:r>
            <a:r>
              <a:rPr lang="es-ES" b="1" dirty="0"/>
              <a:t> </a:t>
            </a:r>
            <a:r>
              <a:rPr lang="es-ES" b="1" dirty="0" err="1"/>
              <a:t>Owner</a:t>
            </a:r>
            <a:r>
              <a:rPr lang="es-ES" b="1" dirty="0"/>
              <a:t> → Equipo Scrum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</a:t>
            </a:r>
            <a:r>
              <a:rPr lang="es-ES" b="1" dirty="0" err="1"/>
              <a:t>Product</a:t>
            </a:r>
            <a:r>
              <a:rPr lang="es-ES" b="1" dirty="0"/>
              <a:t> </a:t>
            </a:r>
            <a:r>
              <a:rPr lang="es-ES" b="1" dirty="0" err="1"/>
              <a:t>Owner</a:t>
            </a:r>
            <a:r>
              <a:rPr lang="es-E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Prioriza los requerimientos.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Los organiza en un </a:t>
            </a:r>
            <a:r>
              <a:rPr lang="es-ES" b="1" dirty="0"/>
              <a:t>Backlog de Producto</a:t>
            </a:r>
            <a:r>
              <a:rPr lang="es-ES" dirty="0"/>
              <a:t> (lista de funcionalidades a desarrollar).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Define los </a:t>
            </a:r>
            <a:r>
              <a:rPr lang="es-ES" b="1" dirty="0"/>
              <a:t>Criterios de Aceptación</a:t>
            </a:r>
            <a:r>
              <a:rPr lang="es-ES" dirty="0"/>
              <a:t> para cada elemento del backlog.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Interacción: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El </a:t>
            </a:r>
            <a:r>
              <a:rPr lang="es-ES" b="1" dirty="0"/>
              <a:t>Equipo Scrum</a:t>
            </a:r>
            <a:r>
              <a:rPr lang="es-ES" dirty="0"/>
              <a:t> revisa los elementos priorizados en el backlog y selecciona aquellos que abordarán en el siguiente Sprint (ciclo de desarrollo de 1 a 4 semanas).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2634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Scrum Master → Equipo Scrum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</a:t>
            </a:r>
            <a:r>
              <a:rPr lang="es-ES" b="1" dirty="0"/>
              <a:t>Scrum Master</a:t>
            </a:r>
            <a:r>
              <a:rPr lang="es-ES" dirty="0"/>
              <a:t> tiene un papel clave: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Asegura un </a:t>
            </a:r>
            <a:r>
              <a:rPr lang="es-ES" b="1" dirty="0"/>
              <a:t>ambiente de trabajo adecuado</a:t>
            </a:r>
            <a:r>
              <a:rPr lang="es-ES" dirty="0"/>
              <a:t> para el equipo.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Facilita reuniones y elimina impedimentos.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Se asegura de que el equipo siga los principios de </a:t>
            </a:r>
            <a:r>
              <a:rPr lang="es-ES" b="1" dirty="0"/>
              <a:t>Scrum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Interacción: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El </a:t>
            </a:r>
            <a:r>
              <a:rPr lang="es-ES" b="1" dirty="0"/>
              <a:t>Scrum Master</a:t>
            </a:r>
            <a:r>
              <a:rPr lang="es-ES" dirty="0"/>
              <a:t> trabaja junto con el equipo para mejorar la eficiencia del Sprint y resolver bloqueos.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2650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Scrum Master</a:t>
            </a:r>
            <a:r>
              <a:rPr lang="es-ES" dirty="0"/>
              <a:t> facilita el trabajo y asegura que el equipo tenga un entorno óptimo.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2135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Equipo Scrum</a:t>
            </a:r>
            <a:r>
              <a:rPr lang="es-ES" dirty="0"/>
              <a:t> desarrolla el producto en </a:t>
            </a:r>
            <a:r>
              <a:rPr lang="es-ES" b="1" dirty="0" err="1"/>
              <a:t>Sprints</a:t>
            </a:r>
            <a:r>
              <a:rPr lang="es-ES" dirty="0"/>
              <a:t> y presenta incrementos al </a:t>
            </a:r>
            <a:r>
              <a:rPr lang="es-ES" b="1" dirty="0" err="1"/>
              <a:t>Product</a:t>
            </a:r>
            <a:r>
              <a:rPr lang="es-ES" b="1" dirty="0"/>
              <a:t> </a:t>
            </a:r>
            <a:r>
              <a:rPr lang="es-ES" b="1" dirty="0" err="1"/>
              <a:t>Owner</a:t>
            </a:r>
            <a:r>
              <a:rPr lang="es-ES" dirty="0"/>
              <a:t>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1770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marco de trabajo </a:t>
            </a:r>
            <a:r>
              <a:rPr lang="es-ES" b="1" dirty="0"/>
              <a:t>Scrum</a:t>
            </a:r>
            <a:r>
              <a:rPr lang="es-ES" dirty="0"/>
              <a:t> se estructura en </a:t>
            </a:r>
            <a:r>
              <a:rPr lang="es-ES" b="1" dirty="0"/>
              <a:t>5 fases principales</a:t>
            </a:r>
            <a:r>
              <a:rPr lang="es-ES" dirty="0"/>
              <a:t>, dentro de las cuales se distribuyen </a:t>
            </a:r>
            <a:r>
              <a:rPr lang="es-ES" b="1" dirty="0"/>
              <a:t>19 procesos</a:t>
            </a:r>
            <a:r>
              <a:rPr lang="es-ES" dirty="0"/>
              <a:t> que permiten gestionar el desarrollo ágil de proyectos de software. A continuación, se detallan cada una de estas fases y sus procesos.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0024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🔹 1. Fase de Inicio</a:t>
            </a:r>
          </a:p>
          <a:p>
            <a:r>
              <a:rPr lang="es-ES" dirty="0"/>
              <a:t>📌 </a:t>
            </a:r>
            <a:r>
              <a:rPr lang="es-ES" b="1" dirty="0"/>
              <a:t>Objetivo:</a:t>
            </a:r>
            <a:r>
              <a:rPr lang="es-ES" dirty="0"/>
              <a:t> Definir la visión del proyecto, identificar roles clave y establecer el backlog inicial.</a:t>
            </a:r>
          </a:p>
          <a:p>
            <a:r>
              <a:rPr lang="es-ES" b="1" dirty="0"/>
              <a:t>Procesos en esta fase: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Crear la visión del proyecto</a:t>
            </a:r>
            <a:endParaRPr lang="es-ES" dirty="0"/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Se define el objetivo principal del producto con la ayuda del </a:t>
            </a:r>
            <a:r>
              <a:rPr lang="es-ES" b="1" dirty="0" err="1"/>
              <a:t>Product</a:t>
            </a:r>
            <a:r>
              <a:rPr lang="es-ES" b="1" dirty="0"/>
              <a:t> </a:t>
            </a:r>
            <a:r>
              <a:rPr lang="es-ES" b="1" dirty="0" err="1"/>
              <a:t>Owner</a:t>
            </a:r>
            <a:r>
              <a:rPr lang="es-ES" dirty="0"/>
              <a:t> y los </a:t>
            </a:r>
            <a:r>
              <a:rPr lang="es-ES" b="1" dirty="0" err="1"/>
              <a:t>Stakeholders</a:t>
            </a:r>
            <a:r>
              <a:rPr lang="es-ES" dirty="0"/>
              <a:t>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Identificar al Scrum Master y al </a:t>
            </a:r>
            <a:r>
              <a:rPr lang="es-ES" b="1" dirty="0" err="1"/>
              <a:t>Product</a:t>
            </a:r>
            <a:r>
              <a:rPr lang="es-ES" b="1" dirty="0"/>
              <a:t> </a:t>
            </a:r>
            <a:r>
              <a:rPr lang="es-ES" b="1" dirty="0" err="1"/>
              <a:t>Owner</a:t>
            </a:r>
            <a:endParaRPr lang="es-ES" dirty="0"/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Se asignan estos roles clave para la gestión ágil del equipo.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Formar el equipo Scrum</a:t>
            </a:r>
            <a:endParaRPr lang="es-ES" dirty="0"/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Se elige a los desarrolladores y </a:t>
            </a:r>
            <a:r>
              <a:rPr lang="es-ES" dirty="0" err="1"/>
              <a:t>testers</a:t>
            </a:r>
            <a:r>
              <a:rPr lang="es-ES" dirty="0"/>
              <a:t> que formarán parte del equipo.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Desarrollar la épica</a:t>
            </a:r>
            <a:endParaRPr lang="es-ES" dirty="0"/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Se crean las </a:t>
            </a:r>
            <a:r>
              <a:rPr lang="es-ES" b="1" dirty="0"/>
              <a:t>épicas</a:t>
            </a:r>
            <a:r>
              <a:rPr lang="es-ES" dirty="0"/>
              <a:t> (grandes funcionalidades del producto).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1" dirty="0"/>
              <a:t>Crear el Backlog del </a:t>
            </a:r>
            <a:r>
              <a:rPr lang="es-ES" b="1" dirty="0" err="1"/>
              <a:t>Producto</a:t>
            </a:r>
            <a:r>
              <a:rPr lang="es-ES" dirty="0" err="1"/>
              <a:t>Se</a:t>
            </a:r>
            <a:r>
              <a:rPr lang="es-ES" dirty="0"/>
              <a:t> elabora el </a:t>
            </a:r>
            <a:r>
              <a:rPr lang="es-ES" b="1" dirty="0" err="1"/>
              <a:t>Product</a:t>
            </a:r>
            <a:r>
              <a:rPr lang="es-ES" b="1" dirty="0"/>
              <a:t> Backlog</a:t>
            </a:r>
            <a:r>
              <a:rPr lang="es-ES" dirty="0"/>
              <a:t> con las primeras historias de usuario.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8344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🔹 2. Fase de Planificación y Estimación</a:t>
            </a:r>
          </a:p>
          <a:p>
            <a:r>
              <a:rPr lang="es-ES" dirty="0"/>
              <a:t>📌 </a:t>
            </a:r>
            <a:r>
              <a:rPr lang="es-ES" b="1" dirty="0"/>
              <a:t>Objetivo:</a:t>
            </a:r>
            <a:r>
              <a:rPr lang="es-ES" dirty="0"/>
              <a:t> Establecer los elementos que se desarrollarán en el siguiente Sprint y definir su esfuerzo.</a:t>
            </a:r>
          </a:p>
          <a:p>
            <a:r>
              <a:rPr lang="es-ES" b="1" dirty="0"/>
              <a:t>Procesos en esta fase:</a:t>
            </a:r>
          </a:p>
          <a:p>
            <a:pPr>
              <a:buFont typeface="+mj-lt"/>
              <a:buAutoNum type="arabicPeriod" startAt="6"/>
            </a:pPr>
            <a:r>
              <a:rPr lang="es-ES" b="1" dirty="0"/>
              <a:t>Identificar y priorizar historias de usuario</a:t>
            </a:r>
            <a:endParaRPr lang="es-ES" dirty="0"/>
          </a:p>
          <a:p>
            <a:pPr marL="742950" lvl="1" indent="-285750">
              <a:buFont typeface="+mj-lt"/>
              <a:buAutoNum type="arabicPeriod" startAt="6"/>
            </a:pPr>
            <a:r>
              <a:rPr lang="es-ES" dirty="0"/>
              <a:t>Se organizan las historias en el </a:t>
            </a:r>
            <a:r>
              <a:rPr lang="es-ES" b="1" dirty="0" err="1"/>
              <a:t>Product</a:t>
            </a:r>
            <a:r>
              <a:rPr lang="es-ES" b="1" dirty="0"/>
              <a:t> Backlog</a:t>
            </a:r>
            <a:r>
              <a:rPr lang="es-ES" dirty="0"/>
              <a:t> según su prioridad.</a:t>
            </a:r>
          </a:p>
          <a:p>
            <a:pPr>
              <a:buFont typeface="+mj-lt"/>
              <a:buAutoNum type="arabicPeriod" startAt="6"/>
            </a:pPr>
            <a:r>
              <a:rPr lang="es-ES" b="1" dirty="0"/>
              <a:t>Realizar reuniones de planificación del Sprint</a:t>
            </a:r>
            <a:endParaRPr lang="es-ES" dirty="0"/>
          </a:p>
          <a:p>
            <a:pPr marL="742950" lvl="1" indent="-285750">
              <a:buFont typeface="+mj-lt"/>
              <a:buAutoNum type="arabicPeriod" startAt="6"/>
            </a:pPr>
            <a:r>
              <a:rPr lang="es-ES" dirty="0"/>
              <a:t>Se define qué elementos del backlog se incluirán en el Sprint actual.</a:t>
            </a:r>
          </a:p>
          <a:p>
            <a:pPr>
              <a:buFont typeface="+mj-lt"/>
              <a:buAutoNum type="arabicPeriod" startAt="6"/>
            </a:pPr>
            <a:r>
              <a:rPr lang="es-ES" b="1" dirty="0"/>
              <a:t>Estimar tareas</a:t>
            </a:r>
            <a:endParaRPr lang="es-ES" dirty="0"/>
          </a:p>
          <a:p>
            <a:pPr marL="742950" lvl="1" indent="-285750">
              <a:buFont typeface="+mj-lt"/>
              <a:buAutoNum type="arabicPeriod" startAt="6"/>
            </a:pPr>
            <a:r>
              <a:rPr lang="es-ES" dirty="0"/>
              <a:t>Se usa una técnica de estimación como </a:t>
            </a:r>
            <a:r>
              <a:rPr lang="es-ES" b="1" dirty="0" err="1"/>
              <a:t>Planning</a:t>
            </a:r>
            <a:r>
              <a:rPr lang="es-ES" b="1" dirty="0"/>
              <a:t> </a:t>
            </a:r>
            <a:r>
              <a:rPr lang="es-ES" b="1" dirty="0" err="1"/>
              <a:t>Poker</a:t>
            </a:r>
            <a:r>
              <a:rPr lang="es-ES" dirty="0"/>
              <a:t> o </a:t>
            </a:r>
            <a:r>
              <a:rPr lang="es-ES" b="1" dirty="0"/>
              <a:t>Puntos de Historia</a:t>
            </a:r>
            <a:r>
              <a:rPr lang="es-ES" dirty="0"/>
              <a:t>.</a:t>
            </a:r>
          </a:p>
          <a:p>
            <a:pPr>
              <a:buFont typeface="+mj-lt"/>
              <a:buAutoNum type="arabicPeriod" startAt="6"/>
            </a:pPr>
            <a:r>
              <a:rPr lang="es-ES" b="1" dirty="0"/>
              <a:t>Crear el Sprint Backlog</a:t>
            </a:r>
            <a:endParaRPr lang="es-ES" dirty="0"/>
          </a:p>
          <a:p>
            <a:pPr marL="742950" lvl="1" indent="-285750">
              <a:buFont typeface="+mj-lt"/>
              <a:buAutoNum type="arabicPeriod" startAt="6"/>
            </a:pPr>
            <a:r>
              <a:rPr lang="es-ES" dirty="0"/>
              <a:t>Se seleccionan las tareas a desarrollar en el Sprint.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7073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3. Fase de Implementación</a:t>
            </a:r>
          </a:p>
          <a:p>
            <a:r>
              <a:rPr lang="es-ES" dirty="0"/>
              <a:t>📌 </a:t>
            </a:r>
            <a:r>
              <a:rPr lang="es-ES" b="1" dirty="0"/>
              <a:t>Objetivo:</a:t>
            </a:r>
            <a:r>
              <a:rPr lang="es-ES" dirty="0"/>
              <a:t> Desarrollar y probar las funcionalidades acordadas en el Sprint.</a:t>
            </a:r>
          </a:p>
          <a:p>
            <a:r>
              <a:rPr lang="es-ES" b="1" dirty="0"/>
              <a:t>Procesos en esta fase:</a:t>
            </a:r>
          </a:p>
          <a:p>
            <a:pPr>
              <a:buFont typeface="+mj-lt"/>
              <a:buAutoNum type="arabicPeriod" startAt="10"/>
            </a:pPr>
            <a:r>
              <a:rPr lang="es-ES" b="1" dirty="0"/>
              <a:t>Realizar el Sprint</a:t>
            </a:r>
            <a:endParaRPr lang="es-ES" dirty="0"/>
          </a:p>
          <a:p>
            <a:pPr marL="742950" lvl="1" indent="-285750">
              <a:buFont typeface="+mj-lt"/>
              <a:buAutoNum type="arabicPeriod" startAt="10"/>
            </a:pPr>
            <a:r>
              <a:rPr lang="es-ES" dirty="0"/>
              <a:t>Se desarrollan las funcionalidades acordadas en el Sprint Backlog.</a:t>
            </a:r>
          </a:p>
          <a:p>
            <a:pPr>
              <a:buFont typeface="+mj-lt"/>
              <a:buAutoNum type="arabicPeriod" startAt="10"/>
            </a:pPr>
            <a:r>
              <a:rPr lang="es-ES" b="1" dirty="0"/>
              <a:t>Realizar reuniones diarias (</a:t>
            </a:r>
            <a:r>
              <a:rPr lang="es-ES" b="1" dirty="0" err="1"/>
              <a:t>Daily</a:t>
            </a:r>
            <a:r>
              <a:rPr lang="es-ES" b="1" dirty="0"/>
              <a:t> Scrum)</a:t>
            </a:r>
            <a:endParaRPr lang="es-ES" dirty="0"/>
          </a:p>
          <a:p>
            <a:pPr marL="742950" lvl="1" indent="-285750">
              <a:buFont typeface="+mj-lt"/>
              <a:buAutoNum type="arabicPeriod" startAt="10"/>
            </a:pPr>
            <a:r>
              <a:rPr lang="es-ES" dirty="0"/>
              <a:t>Se llevan a cabo reuniones de </a:t>
            </a:r>
            <a:r>
              <a:rPr lang="es-ES" b="1" dirty="0"/>
              <a:t>15 minutos</a:t>
            </a:r>
            <a:r>
              <a:rPr lang="es-ES" dirty="0"/>
              <a:t> donde el equipo responde:</a:t>
            </a:r>
          </a:p>
          <a:p>
            <a:pPr marL="1143000" lvl="2" indent="-228600">
              <a:buFont typeface="+mj-lt"/>
              <a:buAutoNum type="arabicPeriod" startAt="10"/>
            </a:pPr>
            <a:r>
              <a:rPr lang="es-ES" dirty="0"/>
              <a:t>¿Qué hice ayer?</a:t>
            </a:r>
          </a:p>
          <a:p>
            <a:pPr marL="1143000" lvl="2" indent="-228600">
              <a:buFont typeface="+mj-lt"/>
              <a:buAutoNum type="arabicPeriod" startAt="10"/>
            </a:pPr>
            <a:r>
              <a:rPr lang="es-ES" dirty="0"/>
              <a:t>¿Qué haré hoy?</a:t>
            </a:r>
          </a:p>
          <a:p>
            <a:pPr marL="1143000" lvl="2" indent="-228600">
              <a:buFont typeface="+mj-lt"/>
              <a:buAutoNum type="arabicPeriod" startAt="10"/>
            </a:pPr>
            <a:r>
              <a:rPr lang="es-ES" dirty="0"/>
              <a:t>¿Tengo algún bloqueo?</a:t>
            </a:r>
          </a:p>
          <a:p>
            <a:pPr>
              <a:buFont typeface="+mj-lt"/>
              <a:buAutoNum type="arabicPeriod" startAt="10"/>
            </a:pPr>
            <a:r>
              <a:rPr lang="es-ES" b="1" dirty="0"/>
              <a:t>Refinar el Backlog del Producto</a:t>
            </a:r>
            <a:endParaRPr lang="es-ES" dirty="0"/>
          </a:p>
          <a:p>
            <a:pPr marL="742950" lvl="1" indent="-285750">
              <a:buFont typeface="+mj-lt"/>
              <a:buAutoNum type="arabicPeriod" startAt="10"/>
            </a:pPr>
            <a:r>
              <a:rPr lang="es-ES" dirty="0"/>
              <a:t>Se actualizan, dividen o eliminan historias de usuario según nuevas necesidades.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8684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4. Fase de Revisión y Retrospectiva</a:t>
            </a:r>
          </a:p>
          <a:p>
            <a:r>
              <a:rPr lang="es-ES" dirty="0"/>
              <a:t>📌 </a:t>
            </a:r>
            <a:r>
              <a:rPr lang="es-ES" b="1" dirty="0"/>
              <a:t>Objetivo:</a:t>
            </a:r>
            <a:r>
              <a:rPr lang="es-ES" dirty="0"/>
              <a:t> Evaluar los resultados del Sprint, recopilar </a:t>
            </a:r>
            <a:r>
              <a:rPr lang="es-ES" dirty="0" err="1"/>
              <a:t>feedback</a:t>
            </a:r>
            <a:r>
              <a:rPr lang="es-ES" dirty="0"/>
              <a:t> y mejorar los procesos.</a:t>
            </a:r>
          </a:p>
          <a:p>
            <a:r>
              <a:rPr lang="es-ES" b="1" dirty="0"/>
              <a:t>Procesos en esta fase:</a:t>
            </a:r>
          </a:p>
          <a:p>
            <a:pPr>
              <a:buFont typeface="+mj-lt"/>
              <a:buAutoNum type="arabicPeriod" startAt="13"/>
            </a:pPr>
            <a:r>
              <a:rPr lang="es-ES" b="1" dirty="0"/>
              <a:t>Demostrar y validar el Sprint</a:t>
            </a:r>
            <a:endParaRPr lang="es-ES" dirty="0"/>
          </a:p>
          <a:p>
            <a:pPr marL="742950" lvl="1" indent="-285750">
              <a:buFont typeface="+mj-lt"/>
              <a:buAutoNum type="arabicPeriod" startAt="13"/>
            </a:pPr>
            <a:r>
              <a:rPr lang="es-ES" dirty="0"/>
              <a:t>Se presenta el trabajo completado a los </a:t>
            </a:r>
            <a:r>
              <a:rPr lang="es-ES" dirty="0" err="1"/>
              <a:t>Stakeholders</a:t>
            </a:r>
            <a:r>
              <a:rPr lang="es-ES" dirty="0"/>
              <a:t> en la </a:t>
            </a:r>
            <a:r>
              <a:rPr lang="es-ES" b="1" dirty="0"/>
              <a:t>Sprint </a:t>
            </a:r>
            <a:r>
              <a:rPr lang="es-ES" b="1" dirty="0" err="1"/>
              <a:t>Review</a:t>
            </a:r>
            <a:r>
              <a:rPr lang="es-ES" dirty="0"/>
              <a:t>.</a:t>
            </a:r>
          </a:p>
          <a:p>
            <a:pPr>
              <a:buFont typeface="+mj-lt"/>
              <a:buAutoNum type="arabicPeriod" startAt="13"/>
            </a:pPr>
            <a:r>
              <a:rPr lang="es-ES" b="1" dirty="0"/>
              <a:t>Retrospectiva del Sprint</a:t>
            </a:r>
            <a:endParaRPr lang="es-ES" dirty="0"/>
          </a:p>
          <a:p>
            <a:pPr marL="742950" lvl="1" indent="-285750">
              <a:buFont typeface="+mj-lt"/>
              <a:buAutoNum type="arabicPeriod" startAt="13"/>
            </a:pPr>
            <a:r>
              <a:rPr lang="es-ES" dirty="0"/>
              <a:t>El equipo analiza qué salió bien, qué se puede mejorar y define acciones correctivas.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3009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5. Fase de Lanzamiento</a:t>
            </a:r>
          </a:p>
          <a:p>
            <a:r>
              <a:rPr lang="es-ES" dirty="0"/>
              <a:t>📌 </a:t>
            </a:r>
            <a:r>
              <a:rPr lang="es-ES" b="1" dirty="0"/>
              <a:t>Objetivo:</a:t>
            </a:r>
            <a:r>
              <a:rPr lang="es-ES" dirty="0"/>
              <a:t> Entregar el producto funcional y cerrar el Sprint.</a:t>
            </a:r>
          </a:p>
          <a:p>
            <a:r>
              <a:rPr lang="es-ES" b="1" dirty="0"/>
              <a:t>Procesos en esta fase:</a:t>
            </a:r>
          </a:p>
          <a:p>
            <a:pPr>
              <a:buFont typeface="+mj-lt"/>
              <a:buAutoNum type="arabicPeriod" startAt="15"/>
            </a:pPr>
            <a:r>
              <a:rPr lang="es-ES" b="1" dirty="0"/>
              <a:t>Preparar el lanzamiento del producto</a:t>
            </a:r>
            <a:endParaRPr lang="es-ES" dirty="0"/>
          </a:p>
          <a:p>
            <a:pPr marL="742950" lvl="1" indent="-285750">
              <a:buFont typeface="+mj-lt"/>
              <a:buAutoNum type="arabicPeriod" startAt="15"/>
            </a:pPr>
            <a:r>
              <a:rPr lang="es-ES" dirty="0"/>
              <a:t>Se revisa que el producto cumpla con los criterios de calidad.</a:t>
            </a:r>
          </a:p>
          <a:p>
            <a:pPr>
              <a:buFont typeface="+mj-lt"/>
              <a:buAutoNum type="arabicPeriod" startAt="15"/>
            </a:pPr>
            <a:r>
              <a:rPr lang="es-ES" b="1" dirty="0"/>
              <a:t>Enviar el producto a producción</a:t>
            </a:r>
            <a:endParaRPr lang="es-ES" dirty="0"/>
          </a:p>
          <a:p>
            <a:pPr marL="742950" lvl="1" indent="-285750">
              <a:buFont typeface="+mj-lt"/>
              <a:buAutoNum type="arabicPeriod" startAt="15"/>
            </a:pPr>
            <a:r>
              <a:rPr lang="es-ES" dirty="0"/>
              <a:t>Se libera la versión estable del software.</a:t>
            </a:r>
          </a:p>
          <a:p>
            <a:pPr>
              <a:buFont typeface="+mj-lt"/>
              <a:buAutoNum type="arabicPeriod" startAt="15"/>
            </a:pPr>
            <a:r>
              <a:rPr lang="es-ES" b="1" dirty="0"/>
              <a:t>Validar el producto entregado</a:t>
            </a:r>
            <a:endParaRPr lang="es-ES" dirty="0"/>
          </a:p>
          <a:p>
            <a:pPr marL="742950" lvl="1" indent="-285750">
              <a:buFont typeface="+mj-lt"/>
              <a:buAutoNum type="arabicPeriod" startAt="15"/>
            </a:pPr>
            <a:r>
              <a:rPr lang="es-ES" dirty="0"/>
              <a:t>Se realizan pruebas finales para garantizar la calidad.</a:t>
            </a:r>
          </a:p>
          <a:p>
            <a:pPr>
              <a:buFont typeface="+mj-lt"/>
              <a:buAutoNum type="arabicPeriod" startAt="15"/>
            </a:pPr>
            <a:r>
              <a:rPr lang="es-ES" b="1" dirty="0"/>
              <a:t>Obtener </a:t>
            </a:r>
            <a:r>
              <a:rPr lang="es-ES" b="1" dirty="0" err="1"/>
              <a:t>feedback</a:t>
            </a:r>
            <a:r>
              <a:rPr lang="es-ES" b="1" dirty="0"/>
              <a:t> del cliente</a:t>
            </a:r>
            <a:endParaRPr lang="es-ES" dirty="0"/>
          </a:p>
          <a:p>
            <a:pPr marL="742950" lvl="1" indent="-285750">
              <a:buFont typeface="+mj-lt"/>
              <a:buAutoNum type="arabicPeriod" startAt="15"/>
            </a:pPr>
            <a:r>
              <a:rPr lang="es-ES" dirty="0"/>
              <a:t>Se recoge información para futuros </a:t>
            </a:r>
            <a:r>
              <a:rPr lang="es-ES" dirty="0" err="1"/>
              <a:t>Sprints</a:t>
            </a:r>
            <a:r>
              <a:rPr lang="es-E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1" dirty="0"/>
              <a:t>Cerrar el </a:t>
            </a:r>
            <a:r>
              <a:rPr lang="es-ES" b="1" dirty="0" err="1"/>
              <a:t>Sprint</a:t>
            </a:r>
            <a:r>
              <a:rPr lang="es-ES" dirty="0" err="1"/>
              <a:t>Se</a:t>
            </a:r>
            <a:r>
              <a:rPr lang="es-ES" dirty="0"/>
              <a:t> da por finalizado el Sprint y se inicia la planificación del siguiente.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3773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Requerimientos de software (SRC)</a:t>
            </a:r>
          </a:p>
          <a:p>
            <a:pPr marL="228600" indent="-228600">
              <a:buAutoNum type="arabicPeriod"/>
            </a:pPr>
            <a:r>
              <a:rPr lang="es-ES" dirty="0"/>
              <a:t>Proyectos grandes y complejos</a:t>
            </a:r>
          </a:p>
          <a:p>
            <a:pPr marL="228600" indent="-228600">
              <a:buAutoNum type="arabicPeriod"/>
            </a:pPr>
            <a:r>
              <a:rPr lang="es-ES" dirty="0"/>
              <a:t>Proyectos con requisitos estáticos</a:t>
            </a:r>
          </a:p>
          <a:p>
            <a:pPr marL="228600" indent="-228600">
              <a:buAutoNum type="arabicPeriod"/>
            </a:pPr>
            <a:r>
              <a:rPr lang="es-ES" dirty="0"/>
              <a:t>Entornos regulatorios o contractuales</a:t>
            </a:r>
          </a:p>
          <a:p>
            <a:pPr marL="228600" indent="-228600">
              <a:buAutoNum type="arabicPeriod"/>
            </a:pPr>
            <a:r>
              <a:rPr lang="es-ES" dirty="0"/>
              <a:t>Proyectos </a:t>
            </a:r>
            <a:r>
              <a:rPr lang="es-ES" dirty="0" err="1"/>
              <a:t>Outsorcing</a:t>
            </a:r>
            <a:endParaRPr lang="es-ES" dirty="0"/>
          </a:p>
          <a:p>
            <a:pPr marL="228600" indent="-228600">
              <a:buAutoNum type="arabicPeriod"/>
            </a:pPr>
            <a:r>
              <a:rPr lang="es-ES" dirty="0"/>
              <a:t>Equipos distribuidos</a:t>
            </a:r>
          </a:p>
          <a:p>
            <a:pPr marL="228600" indent="-228600">
              <a:buAutoNum type="arabicPeriod"/>
            </a:pPr>
            <a:endParaRPr lang="es-ES" dirty="0"/>
          </a:p>
          <a:p>
            <a:pPr marL="228600" indent="-228600">
              <a:buAutoNum type="arabicPeriod"/>
            </a:pPr>
            <a:r>
              <a:rPr lang="es-ES" dirty="0"/>
              <a:t>Backlog con HU</a:t>
            </a:r>
            <a:br>
              <a:rPr lang="es-ES" dirty="0"/>
            </a:br>
            <a:r>
              <a:rPr lang="es-ES" dirty="0"/>
              <a:t>Proyectos agiles</a:t>
            </a:r>
          </a:p>
          <a:p>
            <a:pPr marL="228600" indent="-228600">
              <a:buAutoNum type="arabicPeriod"/>
            </a:pPr>
            <a:r>
              <a:rPr lang="es-ES" dirty="0"/>
              <a:t>Requisitos dinámicos</a:t>
            </a:r>
          </a:p>
          <a:p>
            <a:pPr marL="228600" indent="-228600">
              <a:buAutoNum type="arabicPeriod"/>
            </a:pPr>
            <a:r>
              <a:rPr lang="es-ES" dirty="0"/>
              <a:t>Desarrollo Iterativo e Incremental</a:t>
            </a:r>
          </a:p>
          <a:p>
            <a:pPr marL="228600" indent="-228600">
              <a:buAutoNum type="arabicPeriod"/>
            </a:pPr>
            <a:r>
              <a:rPr lang="es-ES" dirty="0"/>
              <a:t>Enfoque en el usuario final</a:t>
            </a:r>
          </a:p>
          <a:p>
            <a:pPr marL="228600" indent="-228600">
              <a:buAutoNum type="arabicPeriod"/>
            </a:pPr>
            <a:r>
              <a:rPr lang="es-ES" dirty="0"/>
              <a:t>Colaboración y comunicación</a:t>
            </a:r>
          </a:p>
          <a:p>
            <a:r>
              <a:rPr lang="es-ES" dirty="0"/>
              <a:t>En resumen: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SRS</a:t>
            </a:r>
            <a:r>
              <a:rPr lang="es-ES" dirty="0"/>
              <a:t>: Proyectos grandes, complejos, estáticos, regulados, de outsourcing, o con equipos distribuidos.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/>
              <a:t>Backlog con Historias de Usuario</a:t>
            </a:r>
            <a:r>
              <a:rPr lang="es-ES"/>
              <a:t>: Proyectos ágiles, dinámicos, iterativos, centrados en el usuario, que requieren colaboración continua.</a:t>
            </a:r>
          </a:p>
          <a:p>
            <a:pPr marL="0" indent="0">
              <a:buNone/>
            </a:pPr>
            <a:endParaRPr lang="es-ES"/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FE621-FEB1-4BEE-A60F-298C4CD03807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8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41784-83CF-4F33-B485-9B5490FB7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808D4C-E6A3-DF3B-9A3A-4D6C4900D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51CA83-5A3B-C7E5-4C43-C4C88A6A7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D2CC56-6A38-DE2E-4D85-4E4F473E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53D1FA-9484-012F-C440-3769C899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726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43431-8638-AFE2-FE8B-84D4A79D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C8A17B-1554-0EF3-C9BD-F28123E39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0F1F02-3393-C02A-A2FA-8E7D58B3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E961BE-0CCD-2AAB-8D69-0AB03EE32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EE081C-8299-E769-16FF-277681479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276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982EF-BE7F-3E8F-A679-8F43D4DF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A1F5A7-C99C-C45D-3160-922756993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A33957-EF83-D056-4C03-1623C3D3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FDA002-D2F0-5D70-C016-18B834D48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7C07D2-D719-7474-B1B9-869C93AD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40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6FD14-31F8-027B-C0DD-A2D9A8F3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93F2FA-65C6-4CA1-49EF-7D326BC92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A628DC-5B92-7FC6-6176-90B849D1F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7A62A6-1DB6-DACB-2AF8-3A65ADC27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12BD53-41B9-2CBA-C62E-26024A17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5D93F4-77B4-5392-E02A-DCD8581B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701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7B5E9-A255-1523-EA4A-7C205491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E330A4-C7F3-6C3B-04D8-EFD014997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BD60F7-36FA-4894-79DE-469FDB32C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1D204EF-3758-6A5E-FABB-918857377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7B09204-169A-04C1-F564-08F7F7A97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2CCB2DB-637C-6264-2D94-2573E7054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3C99C20-978A-E6B6-4235-28F2F8A2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99B0F47-F6F0-0864-9DE2-5F99AFC3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594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267A9-4CD0-0E9A-DC2A-0BF40693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6AA3AD-7071-2D0B-D50C-47BF409E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4FCF82-3220-0782-32FD-8A42FBF2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39E4F5-E8E8-9985-4E6C-BBCC1F13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509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7AC9B09-8D82-5449-B63D-1394B1B0B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B7F61BD-C50F-E30B-FFC1-A9FF26504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01F27E-1432-1AB7-EC5E-29A50494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501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E891B-BAB4-9710-A610-ECAF41466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CE21BA-09E7-9596-D3AF-A8A69CE30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BEF387-A2CB-9CE8-99C5-2FB16DE5C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05E89F-77E3-C7F4-0289-9683F85A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5ACFED-20B9-547A-001C-D35167AD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37162C-CAF6-FADF-BF48-C67FAEBC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733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2936F-BE06-4BCC-5AEE-574C3FF79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DE96D7F-8FF3-AE2F-D557-17D408656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2F0CE4-7C6B-AC9A-1BCE-8AA6640A7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4E0FDA-31FE-607B-937C-3CD040D4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7EC226-B38B-EA2F-1E36-33E14953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7FC12E-E452-911F-2BC2-6D582531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734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56B9C-F7DE-A2A1-CFB4-CDE860F9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462F16-273A-684E-8B4D-88E11F78D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2F2A92-C171-353F-07E4-F55A3E7C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EEEF6B-CCDF-6EA7-51B6-92BF34B52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9AAE87-B005-070F-C368-221AEE1D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194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BBE4D5-D3A2-6EAA-BF31-75DA63553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A43FEC-D9A2-60EE-7E5A-F95A0D9CC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47081C-645E-9E04-3F04-92893591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DBD91E-C758-99A5-FD55-C35C584A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05A1F3-30E8-DC35-1BDB-7665567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86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5ADA4CE-335A-9212-C726-01BDCFE6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4E4854-96E3-59E5-DE27-E40C18EB4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CE86E3-E640-13EE-D332-0477A5827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89050-2F9E-4179-B943-6A5B31F61927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1759D3-2681-3861-D62D-3F9C44F13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263D7E-F958-36B8-A271-809B7D844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00FEC-1E8A-4C65-8123-61D53E0E8B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653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 /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 /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 /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 /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 /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 /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 /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 /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 /><Relationship Id="rId1" Type="http://schemas.openxmlformats.org/officeDocument/2006/relationships/slideLayout" Target="../slideLayouts/slideLayout2.xml" 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 /><Relationship Id="rId1" Type="http://schemas.openxmlformats.org/officeDocument/2006/relationships/slideLayout" Target="../slideLayouts/slideLayout2.xml" 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 /><Relationship Id="rId1" Type="http://schemas.openxmlformats.org/officeDocument/2006/relationships/slideLayout" Target="../slideLayouts/slideLayout2.xml" 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 /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 /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 /><Relationship Id="rId1" Type="http://schemas.openxmlformats.org/officeDocument/2006/relationships/slideLayout" Target="../slideLayouts/slideLayout2.xml" 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 /><Relationship Id="rId1" Type="http://schemas.openxmlformats.org/officeDocument/2006/relationships/slideLayout" Target="../slideLayouts/slideLayout2.xml" 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 /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 /><Relationship Id="rId1" Type="http://schemas.openxmlformats.org/officeDocument/2006/relationships/slideLayout" Target="../slideLayouts/slideLayout2.xml" 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 /><Relationship Id="rId1" Type="http://schemas.openxmlformats.org/officeDocument/2006/relationships/slideLayout" Target="../slideLayouts/slideLayout2.xml" 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 /><Relationship Id="rId1" Type="http://schemas.openxmlformats.org/officeDocument/2006/relationships/slideLayout" Target="../slideLayouts/slideLayout2.xml" 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 /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 /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 /><Relationship Id="rId1" Type="http://schemas.openxmlformats.org/officeDocument/2006/relationships/slideLayout" Target="../slideLayouts/slideLayout2.xml" 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 /><Relationship Id="rId1" Type="http://schemas.openxmlformats.org/officeDocument/2006/relationships/slideLayout" Target="../slideLayouts/slideLayout2.xml" 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 /><Relationship Id="rId1" Type="http://schemas.openxmlformats.org/officeDocument/2006/relationships/slideLayout" Target="../slideLayouts/slideLayout2.xml" 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 /><Relationship Id="rId1" Type="http://schemas.openxmlformats.org/officeDocument/2006/relationships/slideLayout" Target="../slideLayouts/slideLayout2.xml" 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 /><Relationship Id="rId1" Type="http://schemas.openxmlformats.org/officeDocument/2006/relationships/slideLayout" Target="../slideLayouts/slideLayout2.xml" 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 /><Relationship Id="rId1" Type="http://schemas.openxmlformats.org/officeDocument/2006/relationships/slideLayout" Target="../slideLayouts/slideLayout2.xml" 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 /><Relationship Id="rId1" Type="http://schemas.openxmlformats.org/officeDocument/2006/relationships/slideLayout" Target="../slideLayouts/slideLayout2.xml" 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 /><Relationship Id="rId1" Type="http://schemas.openxmlformats.org/officeDocument/2006/relationships/slideLayout" Target="../slideLayouts/slideLayout2.xml" 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 /><Relationship Id="rId1" Type="http://schemas.openxmlformats.org/officeDocument/2006/relationships/slideLayout" Target="../slideLayouts/slideLayout2.xml" 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 /><Relationship Id="rId1" Type="http://schemas.openxmlformats.org/officeDocument/2006/relationships/slideLayout" Target="../slideLayouts/slideLayout2.xml" 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 /><Relationship Id="rId1" Type="http://schemas.openxmlformats.org/officeDocument/2006/relationships/slideLayout" Target="../slideLayouts/slideLayout2.xml" 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 /><Relationship Id="rId1" Type="http://schemas.openxmlformats.org/officeDocument/2006/relationships/slideLayout" Target="../slideLayouts/slideLayout2.xml" 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 /><Relationship Id="rId1" Type="http://schemas.openxmlformats.org/officeDocument/2006/relationships/slideLayout" Target="../slideLayouts/slideLayout2.xml" 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 /><Relationship Id="rId1" Type="http://schemas.openxmlformats.org/officeDocument/2006/relationships/slideLayout" Target="../slideLayouts/slideLayout2.xml" 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 /><Relationship Id="rId1" Type="http://schemas.openxmlformats.org/officeDocument/2006/relationships/slideLayout" Target="../slideLayouts/slideLayout2.xml" 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 /><Relationship Id="rId1" Type="http://schemas.openxmlformats.org/officeDocument/2006/relationships/slideLayout" Target="../slideLayouts/slideLayout2.xml" 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 /><Relationship Id="rId1" Type="http://schemas.openxmlformats.org/officeDocument/2006/relationships/slideLayout" Target="../slideLayouts/slideLayout2.xml" 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 /><Relationship Id="rId1" Type="http://schemas.openxmlformats.org/officeDocument/2006/relationships/slideLayout" Target="../slideLayouts/slideLayout2.xml" 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 /><Relationship Id="rId1" Type="http://schemas.openxmlformats.org/officeDocument/2006/relationships/slideLayout" Target="../slideLayouts/slideLayout2.xml" 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 /><Relationship Id="rId1" Type="http://schemas.openxmlformats.org/officeDocument/2006/relationships/slideLayout" Target="../slideLayouts/slideLayout2.xml" 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 /><Relationship Id="rId1" Type="http://schemas.openxmlformats.org/officeDocument/2006/relationships/slideLayout" Target="../slideLayouts/slideLayout2.xml" 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 /><Relationship Id="rId1" Type="http://schemas.openxmlformats.org/officeDocument/2006/relationships/slideLayout" Target="../slideLayouts/slideLayout2.xml" 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 /><Relationship Id="rId1" Type="http://schemas.openxmlformats.org/officeDocument/2006/relationships/slideLayout" Target="../slideLayouts/slideLayout2.xml" 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 /><Relationship Id="rId1" Type="http://schemas.openxmlformats.org/officeDocument/2006/relationships/slideLayout" Target="../slideLayouts/slideLayout2.xml" 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 /><Relationship Id="rId1" Type="http://schemas.openxmlformats.org/officeDocument/2006/relationships/slideLayout" Target="../slideLayouts/slideLayout2.xml" 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 /><Relationship Id="rId1" Type="http://schemas.openxmlformats.org/officeDocument/2006/relationships/slideLayout" Target="../slideLayouts/slideLayout2.xml" 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 /><Relationship Id="rId1" Type="http://schemas.openxmlformats.org/officeDocument/2006/relationships/slideLayout" Target="../slideLayouts/slideLayout2.xml" 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 /><Relationship Id="rId1" Type="http://schemas.openxmlformats.org/officeDocument/2006/relationships/slideLayout" Target="../slideLayouts/slideLayout2.xml" 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 /><Relationship Id="rId1" Type="http://schemas.openxmlformats.org/officeDocument/2006/relationships/slideLayout" Target="../slideLayouts/slideLayout2.xml" 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 /><Relationship Id="rId1" Type="http://schemas.openxmlformats.org/officeDocument/2006/relationships/slideLayout" Target="../slideLayouts/slideLayout2.xml" 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 /><Relationship Id="rId1" Type="http://schemas.openxmlformats.org/officeDocument/2006/relationships/slideLayout" Target="../slideLayouts/slideLayout2.xml" 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 /><Relationship Id="rId1" Type="http://schemas.openxmlformats.org/officeDocument/2006/relationships/slideLayout" Target="../slideLayouts/slideLayout2.xml" 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 /><Relationship Id="rId1" Type="http://schemas.openxmlformats.org/officeDocument/2006/relationships/slideLayout" Target="../slideLayouts/slideLayout2.xml" 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 /><Relationship Id="rId1" Type="http://schemas.openxmlformats.org/officeDocument/2006/relationships/slideLayout" Target="../slideLayouts/slideLayout2.xml" 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 /><Relationship Id="rId1" Type="http://schemas.openxmlformats.org/officeDocument/2006/relationships/slideLayout" Target="../slideLayouts/slideLayout2.xml" 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 /><Relationship Id="rId1" Type="http://schemas.openxmlformats.org/officeDocument/2006/relationships/slideLayout" Target="../slideLayouts/slideLayout2.xml" 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 /><Relationship Id="rId1" Type="http://schemas.openxmlformats.org/officeDocument/2006/relationships/slideLayout" Target="../slideLayouts/slideLayout2.xml" 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 /><Relationship Id="rId1" Type="http://schemas.openxmlformats.org/officeDocument/2006/relationships/slideLayout" Target="../slideLayouts/slideLayout2.xml" 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885DD808-78F8-F80C-4EE6-B6608F59F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368"/>
            <a:ext cx="12192000" cy="581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0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F7C78D-B9EF-F2F3-071F-566381855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0992"/>
            <a:ext cx="12192000" cy="527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53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23826D-62D9-31CC-FF14-B832E8931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30"/>
            <a:ext cx="12192000" cy="535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8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891333-73F1-0A41-A707-88C838A2F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0935"/>
            <a:ext cx="12192000" cy="595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44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6D6DC91-8B44-3EFE-7F11-7B4926BCC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7845"/>
            <a:ext cx="12192000" cy="54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7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6EF1EF0-10DE-1575-D7EF-C725DCB21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0541"/>
            <a:ext cx="12192000" cy="549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62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ABEAD0-AFDC-B475-2454-26BA8C16F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C5BF028-3BB7-B49A-9086-34A0559B69A2}"/>
              </a:ext>
            </a:extLst>
          </p:cNvPr>
          <p:cNvSpPr/>
          <p:nvPr/>
        </p:nvSpPr>
        <p:spPr>
          <a:xfrm>
            <a:off x="989351" y="974361"/>
            <a:ext cx="3852472" cy="73451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4400" dirty="0">
                <a:solidFill>
                  <a:srgbClr val="C00000"/>
                </a:solidFill>
              </a:rPr>
              <a:t>Scrum Master</a:t>
            </a:r>
            <a:endParaRPr lang="es-CO" sz="4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1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6B5FA1-8701-7B26-30A4-00565D2D6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3FF8D56-F9B1-E109-7980-FD0A0C490C3E}"/>
              </a:ext>
            </a:extLst>
          </p:cNvPr>
          <p:cNvSpPr/>
          <p:nvPr/>
        </p:nvSpPr>
        <p:spPr>
          <a:xfrm>
            <a:off x="194872" y="344774"/>
            <a:ext cx="3852472" cy="73451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4400" dirty="0">
                <a:solidFill>
                  <a:srgbClr val="C00000"/>
                </a:solidFill>
              </a:rPr>
              <a:t>Scrum Master</a:t>
            </a:r>
            <a:endParaRPr lang="es-CO" sz="4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03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117907-B2CB-F232-4837-2847919A3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3751"/>
            <a:ext cx="12192000" cy="549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5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AA1D76-59AD-DF7C-985C-A1335FACF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459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F6E954-FCDD-2E09-45FA-385920FDD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6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08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CCCD8E-D0CB-BCD2-BAEA-18E57355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A2B98A7-1065-0FCE-F859-76AC06B13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31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71BBD3-599E-4D8D-9B26-344BDCD18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7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AC54018-1A2F-9075-C9A7-E66372A49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36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FCD308-BA42-B0CA-85F7-43F35F450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96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A4AF76-8A53-4493-F5B7-A3199504B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79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EFB5DC-B383-A067-9434-0310870DB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68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09AB35-7882-D680-9FA9-928B7FCAF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6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96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F23CEA-CDF1-56F2-21E0-A7B5D9F25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31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1A652D-B277-027B-562E-EAE02ED1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67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12A0C3-30CB-115D-BBE3-B00FA83BD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31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79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FE3459-8997-2C9E-1945-C3382AC5B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5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94A91C-2B78-76A9-BEB4-D194F228A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172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5F85ECB-2967-4C5A-2E42-0B7BF47F0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95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ACD5EF-B332-9DA7-3889-196E8A69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26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BB117E-59DB-9BD3-29E8-155669122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54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1E503C-4180-813E-B0F2-7438E849E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77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E8ACB5-89C9-936C-4EBB-23BF6E77F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76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153987-629A-A13E-D3DF-5B0F51AC0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60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51BB4A-9B9F-E532-67DD-DE0721CEC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31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6E78AB-8211-34F8-F998-30DC94DE1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33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B30F98-1756-59C4-B2F0-D5BBA6DF8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884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C75C2F-6AF9-CEEF-CD53-9FAFAB914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474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AD3A63F-E1A4-0744-0662-525C1A279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29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ACD5EF-B332-9DA7-3889-196E8A69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814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8F35E2-5634-B42D-76D6-586D0103F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761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E2FD7A0-4452-0765-14AA-0C0DA2C57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5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2FEF8-58E1-655D-7A34-5EE0E3BF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432EDE-3A94-2C24-F9F9-294311BF9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97ED57-AFF9-3586-D140-17DD91C0D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82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755E40-DF87-33A8-0A7C-1E6DF5BB3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498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28AE45-4874-E961-E7DB-8088C8E2C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52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9F8951E-4C0A-317F-8A29-793E7ACA3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090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52EF98-3261-5370-9640-6F87336E3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335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AA5489-3132-1838-62A1-3CB05ED29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83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3D67F3-CE19-821B-CCC1-EE3E4B25D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853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863130E-B8AC-7EB2-113B-3D9714F29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002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269AA8-E814-D253-8E5A-9F4617F73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862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0800A3-9EBC-AF03-C138-44A74F288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09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73F815-2785-E17A-4596-3B1E85567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94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7DCB57-6FEE-65DB-E6FF-41FC26E6B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598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E5174D-2455-0488-CBE8-1CB5CCA31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814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3380ADC-ABC5-C53B-938C-CE7482A18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019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D5F50C7-43C0-9E69-A677-C4FF93920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4442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D51DE4-1823-F001-D7DE-B2AD28CE8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235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2C2CD49-C8EC-C484-BD1A-D8A6EA996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2841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2DC1CEA-4DF9-7E04-544B-BF0A3ACBD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244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7E913-992B-6249-1810-97FB0CDA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87833-25E4-54AB-BACC-3D13363CC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A506B7-FFBE-9ED7-8A6F-99A5C1509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788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628BC-32C6-1B6D-8975-621DC811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771A1C-FCCD-49B8-A360-9267A09B6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95B952-0F1D-AE32-CED9-31342BB4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661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77900-710A-5571-7B8C-6FCB27A4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3F43E1-2294-2F84-F04E-D2C1AC37B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4437CE-B94B-7D45-112B-2CB35180B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925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C275D-D366-4A1B-A691-CDABA22D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B2D17-C5BF-D1DA-7CD9-152F3BED6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3D36B0-D3A0-44B1-3717-1DC3F6B06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236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16879-0ECE-538E-A7FE-112F924B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7B40DE-7B4D-2087-2DA0-90D824B83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F1BB53-52F0-8A7F-E5C4-FD135450F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756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25E49-9C8D-0E88-C9D6-2186896FA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6FCC07-61E6-D5B8-4024-A88AE695B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9134E7-1750-E3E5-4DBA-0806A0450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166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8354B-0C8B-CE0D-D210-D89F6D82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59808E-548F-C668-E90C-388F5DC13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89AC7D-B512-0BD1-43D9-34C81A978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137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55C05-964A-6814-17C7-1853C6A9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1CE636-0F6B-8C52-D741-C09FCE8F9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2C623F-1940-F48E-DA03-E34B51681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094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DC9F9-33F0-6EC6-0236-40D5D5C6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4EC9BE-0556-6995-01B6-7AEF259E3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93E4C0-2F65-CBE8-5DD5-4F35CB9F2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559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1674A-2D6C-93DB-C462-2DA86457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1CC35E-1933-23E4-302E-BF4B431EC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0B17C5-B894-88B0-D5F2-EA3C16047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560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7AF3D-575C-9C9E-DF50-D7A79B53A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B68229-C4A6-3F85-5870-CDAB72F9E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D19E9C-00BF-4F31-C5DF-BCCFB48A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314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EADD4-F794-16D9-59A7-925827E8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D60A44-A2E5-5D78-41FD-59A0102D3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F90D7E-6070-E385-5391-4E5F472BF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847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55223-052D-EA28-00CE-61AF6919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22D7C2-9343-B90A-9D42-C353B38D7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59368E-8BD8-CA1C-6F6D-E5B01B428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384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9C5707-C514-35FE-2936-4EF29E92D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360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03E2DF-B90F-6D08-90EA-9C6A1BA22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978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6D0767-A02D-F0EA-A32F-5711B3BE2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5464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DB5FB7C-4A4A-761D-8CAA-CA27E7987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460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2E64F1-3032-2F3D-C362-E0F18D038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169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B13A975-2799-DA4D-63DA-3F3A50DE4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921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D3D5F-D703-7D7B-AD60-6A56D3447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416050-5848-FA00-D4A6-D7DF27F0C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66CC8F-94A0-8A45-227A-1A066CF1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1960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BC3E0-C232-D0B1-7617-42C696BD2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40EAEC-3128-252C-F3B9-AB548CDB3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F6A129-3F01-731A-2504-50DE2805C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508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CA120-5AF9-88EF-A140-FA7A454A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9EA9C9-AECE-B708-52C9-08597BC9B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226526A-7D74-96B7-9467-D0D15D4A1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047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BC003-4549-7181-0311-C11DB5B6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EC1E-E47E-8311-72D9-026CFA86A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296953-2534-8773-92F9-6C6F01C7E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77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99F2C-9BBC-76D4-1BA4-9D66B1C8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0F64B8-3F63-776D-3435-43E801E8A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D04CC0-31B4-69B4-368D-ECD662CD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410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B1929-E864-7A1A-D49F-EB084B0B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B5AEF8-87C4-4864-E0DF-259B545DF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1F15C6-D2BB-4AEA-800D-5DB26A741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1220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88744-6B7E-B9E3-6F86-013142EB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7BE6-91D9-2543-26F9-1BDDEB42C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29B957-11F5-B70A-53A4-5D68A4B18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3001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3CC6D-C148-42B3-6CCB-D02E2064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D4F135-44BC-B12B-0938-378896F1D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A8A698-A6E6-6B36-7C90-3AE34469C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787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27BA2-F573-7E78-DA2F-04280BB5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A9CA4D-C0A6-B274-BBF1-16B469D88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103D16-930E-46F5-2E0D-696B2CB66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524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081DB-2B29-789C-6F77-634A683A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23F097-EAA0-D4E9-8F98-9CB15EA6C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02DB29-A844-1D2E-9B0C-A23C3823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7698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46D45-8B1A-1AB9-59AA-49FD13E5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B78CE3-03B3-541F-DBEE-454FDEB04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97CFD4-EACF-C1CD-EBDE-EEA3E59E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021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0FBE0-86B9-7BB9-57F0-42695F3DC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82E8E4-59D2-46D9-511D-F3F59B615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A21E6D-697A-6F9F-8BF2-2617594AE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824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6E0AE7-7D1C-F3F2-BEAF-A4AAB6720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8184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68C0B6-F8C8-0DFA-7E6C-FC6A6F580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6216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74AE87-1A0A-58FC-226B-9D0CA2DCA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8415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B102E4-A8A1-F252-017D-EF2DA557A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789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5C3062-78C1-4BAA-365B-651150BE4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593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A64E0F-36C7-78B9-248A-4231F930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78218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F6CAB2-52DF-FF8E-FC8F-57DA7546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840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455806-A23A-A143-FE85-895A80961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6444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5D5228-BEA0-E3EE-5964-62AA334BD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8134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FF52EF-A5AD-BE34-43E2-106F5C591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9477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5FDECB-B18C-9776-D84B-B7E9E60F0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9782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DDB6D2-ACE6-9DE1-2819-A76916672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7593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35DDFD-3386-4C5A-1856-39582BE2A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9271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C37C9BE-B475-1191-55C8-518CB65AA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4390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243A41-39DC-46F9-0246-8C5316EFB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934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CAF3D4-ACF5-E4CD-11FA-62C80FADA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9192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9DEF0B-6F3C-AD37-AD6C-283BD1BD4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346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76C57-DA1B-60DC-E0AD-6719EE7B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7185-2C2F-6E5A-53BF-F03A11B0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50230D-AD1D-AF23-26BD-31FC5D4B3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2409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35739-7D1B-DF01-056C-0F748027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014913-4857-ADC8-27F4-ECF018910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A85F0C-3163-8D17-025A-1A5546A32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7990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ED505-1004-4CAA-C023-7AB53492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760A2D-F0EF-F937-BE79-453C751BD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6EA6F1-E86D-F7C2-3ABA-B3FC2943E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5722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FF5F-FAEB-DA6F-59BD-45DC2EA2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EFEC22-4E15-A00F-61DC-63FFB508D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004438-56CC-7A9D-D79B-E3768025A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1368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679F2-4EC1-9EB7-9459-C70CD757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BE97DB-A548-ED46-E3CB-71A45C17E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140488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FAB11-4C49-9CA4-92B5-45784704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8B941F-3B49-2BC9-9F32-42DA414F4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233409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45108-42AB-3BA3-B28F-709359467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991121-0081-84E4-FCCE-E34446623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91893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24392-037A-6FB4-FE06-9D8CA276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1E5F3C-02BD-44F4-DF4C-A9724229E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83412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5E4EAA-CF80-7E3D-96C2-79D0103B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F74BAF-D067-8271-AD01-27D91BAF3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10501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15122</TotalTime>
  <Words>1118</Words>
  <Application>Microsoft Office PowerPoint</Application>
  <PresentationFormat>Panorámica</PresentationFormat>
  <Paragraphs>120</Paragraphs>
  <Slides>113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113</vt:i4>
      </vt:variant>
    </vt:vector>
  </HeadingPairs>
  <TitlesOfParts>
    <vt:vector size="1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Franco Antonio Reina Argoty</dc:creator>
  <cp:lastModifiedBy>Nicolas Ruiz Colorado</cp:lastModifiedBy>
  <cp:revision>14</cp:revision>
  <dcterms:created xsi:type="dcterms:W3CDTF">2023-01-30T00:09:55Z</dcterms:created>
  <dcterms:modified xsi:type="dcterms:W3CDTF">2026-02-12T12:52:49Z</dcterms:modified>
</cp:coreProperties>
</file>